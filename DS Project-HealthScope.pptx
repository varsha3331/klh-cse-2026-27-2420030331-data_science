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Frasa Display Bold" charset="1" panose="00000000000000000000"/>
      <p:regular r:id="rId15"/>
    </p:embeddedFont>
    <p:embeddedFont>
      <p:font typeface="DM Sans" charset="1" panose="00000000000000000000"/>
      <p:regular r:id="rId16"/>
    </p:embeddedFont>
    <p:embeddedFont>
      <p:font typeface="Canva Sans Bold" charset="1" panose="020B0803030501040103"/>
      <p:regular r:id="rId17"/>
    </p:embeddedFont>
    <p:embeddedFont>
      <p:font typeface="Times New Roman MT Bold" charset="1" panose="02030802070405020303"/>
      <p:regular r:id="rId18"/>
    </p:embeddedFont>
    <p:embeddedFont>
      <p:font typeface="Times New Roman MT" charset="1" panose="020305020704050203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F6FC"/>
        </a:solidFill>
      </p:bgPr>
    </p:bg>
    <p:spTree>
      <p:nvGrpSpPr>
        <p:cNvPr id="1" name=""/>
        <p:cNvGrpSpPr/>
        <p:nvPr/>
      </p:nvGrpSpPr>
      <p:grpSpPr>
        <a:xfrm>
          <a:off x="0" y="0"/>
          <a:ext cx="0" cy="0"/>
          <a:chOff x="0" y="0"/>
          <a:chExt cx="0" cy="0"/>
        </a:xfrm>
      </p:grpSpPr>
      <p:sp>
        <p:nvSpPr>
          <p:cNvPr name="Freeform 2" id="2"/>
          <p:cNvSpPr/>
          <p:nvPr/>
        </p:nvSpPr>
        <p:spPr>
          <a:xfrm flipH="false" flipV="false" rot="0">
            <a:off x="-453451" y="7620370"/>
            <a:ext cx="3108330" cy="3108330"/>
          </a:xfrm>
          <a:custGeom>
            <a:avLst/>
            <a:gdLst/>
            <a:ahLst/>
            <a:cxnLst/>
            <a:rect r="r" b="b" t="t" l="l"/>
            <a:pathLst>
              <a:path h="3108330" w="3108330">
                <a:moveTo>
                  <a:pt x="0" y="0"/>
                </a:moveTo>
                <a:lnTo>
                  <a:pt x="3108330" y="0"/>
                </a:lnTo>
                <a:lnTo>
                  <a:pt x="3108330" y="3108329"/>
                </a:lnTo>
                <a:lnTo>
                  <a:pt x="0" y="31083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2644462" y="4329596"/>
            <a:ext cx="3108330" cy="3108330"/>
          </a:xfrm>
          <a:custGeom>
            <a:avLst/>
            <a:gdLst/>
            <a:ahLst/>
            <a:cxnLst/>
            <a:rect r="r" b="b" t="t" l="l"/>
            <a:pathLst>
              <a:path h="3108330" w="3108330">
                <a:moveTo>
                  <a:pt x="0" y="0"/>
                </a:moveTo>
                <a:lnTo>
                  <a:pt x="3108330" y="0"/>
                </a:lnTo>
                <a:lnTo>
                  <a:pt x="3108330" y="3108330"/>
                </a:lnTo>
                <a:lnTo>
                  <a:pt x="0" y="31083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2788797" y="8327870"/>
            <a:ext cx="2191011" cy="2191011"/>
          </a:xfrm>
          <a:custGeom>
            <a:avLst/>
            <a:gdLst/>
            <a:ahLst/>
            <a:cxnLst/>
            <a:rect r="r" b="b" t="t" l="l"/>
            <a:pathLst>
              <a:path h="2191011" w="2191011">
                <a:moveTo>
                  <a:pt x="2191011" y="0"/>
                </a:moveTo>
                <a:lnTo>
                  <a:pt x="0" y="0"/>
                </a:lnTo>
                <a:lnTo>
                  <a:pt x="0" y="2191011"/>
                </a:lnTo>
                <a:lnTo>
                  <a:pt x="2191011" y="2191011"/>
                </a:lnTo>
                <a:lnTo>
                  <a:pt x="219101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10800000">
            <a:off x="597786" y="4998074"/>
            <a:ext cx="2191011" cy="2191011"/>
          </a:xfrm>
          <a:custGeom>
            <a:avLst/>
            <a:gdLst/>
            <a:ahLst/>
            <a:cxnLst/>
            <a:rect r="r" b="b" t="t" l="l"/>
            <a:pathLst>
              <a:path h="2191011" w="2191011">
                <a:moveTo>
                  <a:pt x="2191011" y="0"/>
                </a:moveTo>
                <a:lnTo>
                  <a:pt x="0" y="0"/>
                </a:lnTo>
                <a:lnTo>
                  <a:pt x="0" y="2191011"/>
                </a:lnTo>
                <a:lnTo>
                  <a:pt x="2191011" y="2191011"/>
                </a:lnTo>
                <a:lnTo>
                  <a:pt x="219101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353949" y="6801143"/>
            <a:ext cx="869695" cy="2121208"/>
          </a:xfrm>
          <a:custGeom>
            <a:avLst/>
            <a:gdLst/>
            <a:ahLst/>
            <a:cxnLst/>
            <a:rect r="r" b="b" t="t" l="l"/>
            <a:pathLst>
              <a:path h="2121208" w="869695">
                <a:moveTo>
                  <a:pt x="0" y="0"/>
                </a:moveTo>
                <a:lnTo>
                  <a:pt x="869695" y="0"/>
                </a:lnTo>
                <a:lnTo>
                  <a:pt x="869695" y="2121208"/>
                </a:lnTo>
                <a:lnTo>
                  <a:pt x="0" y="21212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0800000">
            <a:off x="16896724" y="962623"/>
            <a:ext cx="838197" cy="2044382"/>
          </a:xfrm>
          <a:custGeom>
            <a:avLst/>
            <a:gdLst/>
            <a:ahLst/>
            <a:cxnLst/>
            <a:rect r="r" b="b" t="t" l="l"/>
            <a:pathLst>
              <a:path h="2044382" w="838197">
                <a:moveTo>
                  <a:pt x="0" y="0"/>
                </a:moveTo>
                <a:lnTo>
                  <a:pt x="838197" y="0"/>
                </a:lnTo>
                <a:lnTo>
                  <a:pt x="838197" y="2044382"/>
                </a:lnTo>
                <a:lnTo>
                  <a:pt x="0" y="20443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141733" y="2788538"/>
            <a:ext cx="11107204" cy="3617474"/>
          </a:xfrm>
          <a:prstGeom prst="rect">
            <a:avLst/>
          </a:prstGeom>
        </p:spPr>
        <p:txBody>
          <a:bodyPr anchor="t" rtlCol="false" tIns="0" lIns="0" bIns="0" rIns="0">
            <a:spAutoFit/>
          </a:bodyPr>
          <a:lstStyle/>
          <a:p>
            <a:pPr algn="l">
              <a:lnSpc>
                <a:spcPts val="13802"/>
              </a:lnSpc>
            </a:pPr>
          </a:p>
          <a:p>
            <a:pPr algn="l">
              <a:lnSpc>
                <a:spcPts val="13802"/>
              </a:lnSpc>
            </a:pPr>
            <a:r>
              <a:rPr lang="en-US" sz="14529" b="true">
                <a:solidFill>
                  <a:srgbClr val="202A61"/>
                </a:solidFill>
                <a:latin typeface="Frasa Display Bold"/>
                <a:ea typeface="Frasa Display Bold"/>
                <a:cs typeface="Frasa Display Bold"/>
                <a:sym typeface="Frasa Display Bold"/>
              </a:rPr>
              <a:t>HealthScope</a:t>
            </a:r>
          </a:p>
        </p:txBody>
      </p:sp>
      <p:sp>
        <p:nvSpPr>
          <p:cNvPr name="Freeform 9" id="9"/>
          <p:cNvSpPr/>
          <p:nvPr/>
        </p:nvSpPr>
        <p:spPr>
          <a:xfrm flipH="true" flipV="false" rot="-10800000">
            <a:off x="15225095" y="-553438"/>
            <a:ext cx="2111657" cy="2111657"/>
          </a:xfrm>
          <a:custGeom>
            <a:avLst/>
            <a:gdLst/>
            <a:ahLst/>
            <a:cxnLst/>
            <a:rect r="r" b="b" t="t" l="l"/>
            <a:pathLst>
              <a:path h="2111657" w="2111657">
                <a:moveTo>
                  <a:pt x="2111657" y="0"/>
                </a:moveTo>
                <a:lnTo>
                  <a:pt x="0" y="0"/>
                </a:lnTo>
                <a:lnTo>
                  <a:pt x="0" y="2111657"/>
                </a:lnTo>
                <a:lnTo>
                  <a:pt x="2111657" y="2111657"/>
                </a:lnTo>
                <a:lnTo>
                  <a:pt x="211165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62938" y="3486704"/>
            <a:ext cx="869695" cy="2121208"/>
          </a:xfrm>
          <a:custGeom>
            <a:avLst/>
            <a:gdLst/>
            <a:ahLst/>
            <a:cxnLst/>
            <a:rect r="r" b="b" t="t" l="l"/>
            <a:pathLst>
              <a:path h="2121208" w="869695">
                <a:moveTo>
                  <a:pt x="0" y="0"/>
                </a:moveTo>
                <a:lnTo>
                  <a:pt x="869695" y="0"/>
                </a:lnTo>
                <a:lnTo>
                  <a:pt x="869695" y="2121207"/>
                </a:lnTo>
                <a:lnTo>
                  <a:pt x="0" y="21212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11" id="11"/>
          <p:cNvSpPr/>
          <p:nvPr/>
        </p:nvSpPr>
        <p:spPr>
          <a:xfrm flipV="true">
            <a:off x="5653658" y="9253537"/>
            <a:ext cx="7488116" cy="0"/>
          </a:xfrm>
          <a:prstGeom prst="line">
            <a:avLst/>
          </a:prstGeom>
          <a:ln cap="flat" w="9525">
            <a:solidFill>
              <a:srgbClr val="202A61"/>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grpSp>
        <p:nvGrpSpPr>
          <p:cNvPr name="Group 3" id="3"/>
          <p:cNvGrpSpPr/>
          <p:nvPr/>
        </p:nvGrpSpPr>
        <p:grpSpPr>
          <a:xfrm rot="0">
            <a:off x="-333440" y="-343680"/>
            <a:ext cx="18954880" cy="10974360"/>
            <a:chOff x="0" y="0"/>
            <a:chExt cx="4992232" cy="2890366"/>
          </a:xfrm>
        </p:grpSpPr>
        <p:sp>
          <p:nvSpPr>
            <p:cNvPr name="Freeform 4" id="4"/>
            <p:cNvSpPr/>
            <p:nvPr/>
          </p:nvSpPr>
          <p:spPr>
            <a:xfrm flipH="false" flipV="false" rot="0">
              <a:off x="0" y="0"/>
              <a:ext cx="4992232" cy="2890366"/>
            </a:xfrm>
            <a:custGeom>
              <a:avLst/>
              <a:gdLst/>
              <a:ahLst/>
              <a:cxnLst/>
              <a:rect r="r" b="b" t="t" l="l"/>
              <a:pathLst>
                <a:path h="2890366" w="4992232">
                  <a:moveTo>
                    <a:pt x="0" y="0"/>
                  </a:moveTo>
                  <a:lnTo>
                    <a:pt x="4992232" y="0"/>
                  </a:lnTo>
                  <a:lnTo>
                    <a:pt x="4992232" y="2890366"/>
                  </a:lnTo>
                  <a:lnTo>
                    <a:pt x="0" y="2890366"/>
                  </a:lnTo>
                  <a:close/>
                </a:path>
              </a:pathLst>
            </a:custGeom>
            <a:solidFill>
              <a:srgbClr val="202A61">
                <a:alpha val="94902"/>
              </a:srgbClr>
            </a:solidFill>
          </p:spPr>
        </p:sp>
        <p:sp>
          <p:nvSpPr>
            <p:cNvPr name="TextBox 5" id="5"/>
            <p:cNvSpPr txBox="true"/>
            <p:nvPr/>
          </p:nvSpPr>
          <p:spPr>
            <a:xfrm>
              <a:off x="0" y="-76200"/>
              <a:ext cx="4992232" cy="296656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772989"/>
            <a:ext cx="8985467" cy="463796"/>
          </a:xfrm>
          <a:prstGeom prst="rect">
            <a:avLst/>
          </a:prstGeom>
        </p:spPr>
        <p:txBody>
          <a:bodyPr anchor="t" rtlCol="false" tIns="0" lIns="0" bIns="0" rIns="0">
            <a:spAutoFit/>
          </a:bodyPr>
          <a:lstStyle/>
          <a:p>
            <a:pPr algn="l">
              <a:lnSpc>
                <a:spcPts val="3836"/>
              </a:lnSpc>
            </a:pPr>
            <a:r>
              <a:rPr lang="en-US" sz="2740">
                <a:solidFill>
                  <a:srgbClr val="EFF6FC"/>
                </a:solidFill>
                <a:latin typeface="DM Sans"/>
                <a:ea typeface="DM Sans"/>
                <a:cs typeface="DM Sans"/>
                <a:sym typeface="DM Sans"/>
              </a:rPr>
              <a:t>Project Presentation I 02</a:t>
            </a:r>
          </a:p>
        </p:txBody>
      </p:sp>
      <p:sp>
        <p:nvSpPr>
          <p:cNvPr name="TextBox 7" id="7"/>
          <p:cNvSpPr txBox="true"/>
          <p:nvPr/>
        </p:nvSpPr>
        <p:spPr>
          <a:xfrm rot="0">
            <a:off x="1028700" y="1620451"/>
            <a:ext cx="7494943" cy="1174887"/>
          </a:xfrm>
          <a:prstGeom prst="rect">
            <a:avLst/>
          </a:prstGeom>
        </p:spPr>
        <p:txBody>
          <a:bodyPr anchor="t" rtlCol="false" tIns="0" lIns="0" bIns="0" rIns="0">
            <a:spAutoFit/>
          </a:bodyPr>
          <a:lstStyle/>
          <a:p>
            <a:pPr algn="l">
              <a:lnSpc>
                <a:spcPts val="8649"/>
              </a:lnSpc>
            </a:pPr>
            <a:r>
              <a:rPr lang="en-US" sz="9104" b="true">
                <a:solidFill>
                  <a:srgbClr val="EFF6FC"/>
                </a:solidFill>
                <a:latin typeface="Frasa Display Bold"/>
                <a:ea typeface="Frasa Display Bold"/>
                <a:cs typeface="Frasa Display Bold"/>
                <a:sym typeface="Frasa Display Bold"/>
              </a:rPr>
              <a:t>He</a:t>
            </a:r>
            <a:r>
              <a:rPr lang="en-US" sz="9104" b="true">
                <a:solidFill>
                  <a:srgbClr val="EFF6FC"/>
                </a:solidFill>
                <a:latin typeface="Frasa Display Bold"/>
                <a:ea typeface="Frasa Display Bold"/>
                <a:cs typeface="Frasa Display Bold"/>
                <a:sym typeface="Frasa Display Bold"/>
              </a:rPr>
              <a:t>althScope</a:t>
            </a:r>
          </a:p>
        </p:txBody>
      </p:sp>
      <p:sp>
        <p:nvSpPr>
          <p:cNvPr name="TextBox 8" id="8"/>
          <p:cNvSpPr txBox="true"/>
          <p:nvPr/>
        </p:nvSpPr>
        <p:spPr>
          <a:xfrm rot="0">
            <a:off x="12207051" y="4930937"/>
            <a:ext cx="4002096" cy="3136238"/>
          </a:xfrm>
          <a:prstGeom prst="rect">
            <a:avLst/>
          </a:prstGeom>
        </p:spPr>
        <p:txBody>
          <a:bodyPr anchor="t" rtlCol="false" tIns="0" lIns="0" bIns="0" rIns="0">
            <a:spAutoFit/>
          </a:bodyPr>
          <a:lstStyle/>
          <a:p>
            <a:pPr algn="l">
              <a:lnSpc>
                <a:spcPts val="2500"/>
              </a:lnSpc>
            </a:pPr>
            <a:r>
              <a:rPr lang="en-US" sz="1785">
                <a:solidFill>
                  <a:srgbClr val="202A61"/>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name="AutoShape 9" id="9"/>
          <p:cNvSpPr/>
          <p:nvPr/>
        </p:nvSpPr>
        <p:spPr>
          <a:xfrm>
            <a:off x="5261850" y="1028700"/>
            <a:ext cx="11997450" cy="0"/>
          </a:xfrm>
          <a:prstGeom prst="line">
            <a:avLst/>
          </a:prstGeom>
          <a:ln cap="flat" w="9525">
            <a:solidFill>
              <a:srgbClr val="EFF6FC"/>
            </a:solidFill>
            <a:prstDash val="solid"/>
            <a:headEnd type="none" len="sm" w="sm"/>
            <a:tailEnd type="none" len="sm" w="sm"/>
          </a:ln>
        </p:spPr>
      </p:sp>
      <p:sp>
        <p:nvSpPr>
          <p:cNvPr name="TextBox 10" id="10"/>
          <p:cNvSpPr txBox="true"/>
          <p:nvPr/>
        </p:nvSpPr>
        <p:spPr>
          <a:xfrm rot="0">
            <a:off x="-333440" y="2909638"/>
            <a:ext cx="18123919" cy="595211"/>
          </a:xfrm>
          <a:prstGeom prst="rect">
            <a:avLst/>
          </a:prstGeom>
        </p:spPr>
        <p:txBody>
          <a:bodyPr anchor="t" rtlCol="false" tIns="0" lIns="0" bIns="0" rIns="0">
            <a:spAutoFit/>
          </a:bodyPr>
          <a:lstStyle/>
          <a:p>
            <a:pPr algn="ctr">
              <a:lnSpc>
                <a:spcPts val="4993"/>
              </a:lnSpc>
            </a:pPr>
            <a:r>
              <a:rPr lang="en-US" b="true" sz="3566">
                <a:solidFill>
                  <a:srgbClr val="FFFFFF"/>
                </a:solidFill>
                <a:latin typeface="Canva Sans Bold"/>
                <a:ea typeface="Canva Sans Bold"/>
                <a:cs typeface="Canva Sans Bold"/>
                <a:sym typeface="Canva Sans Bold"/>
              </a:rPr>
              <a:t>An Intelligent Public Health Analytics and Risk Assessment Platform</a:t>
            </a:r>
          </a:p>
        </p:txBody>
      </p:sp>
      <p:sp>
        <p:nvSpPr>
          <p:cNvPr name="TextBox 11" id="11"/>
          <p:cNvSpPr txBox="true"/>
          <p:nvPr/>
        </p:nvSpPr>
        <p:spPr>
          <a:xfrm rot="0">
            <a:off x="536561" y="3733449"/>
            <a:ext cx="15001218" cy="6056659"/>
          </a:xfrm>
          <a:prstGeom prst="rect">
            <a:avLst/>
          </a:prstGeom>
        </p:spPr>
        <p:txBody>
          <a:bodyPr anchor="t" rtlCol="false" tIns="0" lIns="0" bIns="0" rIns="0">
            <a:spAutoFit/>
          </a:bodyPr>
          <a:lstStyle/>
          <a:p>
            <a:pPr algn="ctr">
              <a:lnSpc>
                <a:spcPts val="5318"/>
              </a:lnSpc>
            </a:pPr>
            <a:r>
              <a:rPr lang="en-US" sz="3798" b="true">
                <a:solidFill>
                  <a:srgbClr val="FFFFFF"/>
                </a:solidFill>
                <a:latin typeface="Times New Roman MT Bold"/>
                <a:ea typeface="Times New Roman MT Bold"/>
                <a:cs typeface="Times New Roman MT Bold"/>
                <a:sym typeface="Times New Roman MT Bold"/>
              </a:rPr>
              <a:t>Team Members:</a:t>
            </a:r>
          </a:p>
          <a:p>
            <a:pPr algn="ctr" marL="820178" indent="-410089" lvl="1">
              <a:lnSpc>
                <a:spcPts val="5318"/>
              </a:lnSpc>
              <a:spcBef>
                <a:spcPct val="0"/>
              </a:spcBef>
              <a:buFont typeface="Arial"/>
              <a:buChar char="•"/>
            </a:pPr>
            <a:r>
              <a:rPr lang="en-US" sz="3798">
                <a:solidFill>
                  <a:srgbClr val="FFFFFF"/>
                </a:solidFill>
                <a:latin typeface="Times New Roman MT"/>
                <a:ea typeface="Times New Roman MT"/>
                <a:cs typeface="Times New Roman MT"/>
                <a:sym typeface="Times New Roman MT"/>
              </a:rPr>
              <a:t>Ha</a:t>
            </a:r>
            <a:r>
              <a:rPr lang="en-US" sz="3798">
                <a:solidFill>
                  <a:srgbClr val="FFFFFF"/>
                </a:solidFill>
                <a:latin typeface="Times New Roman MT"/>
                <a:ea typeface="Times New Roman MT"/>
                <a:cs typeface="Times New Roman MT"/>
                <a:sym typeface="Times New Roman MT"/>
              </a:rPr>
              <a:t>rshini S R — 2420030113</a:t>
            </a:r>
          </a:p>
          <a:p>
            <a:pPr algn="ctr" marL="820178" indent="-410089" lvl="1">
              <a:lnSpc>
                <a:spcPts val="5318"/>
              </a:lnSpc>
              <a:spcBef>
                <a:spcPct val="0"/>
              </a:spcBef>
              <a:buFont typeface="Arial"/>
              <a:buChar char="•"/>
            </a:pPr>
            <a:r>
              <a:rPr lang="en-US" sz="3798">
                <a:solidFill>
                  <a:srgbClr val="FFFFFF"/>
                </a:solidFill>
                <a:latin typeface="Times New Roman MT"/>
                <a:ea typeface="Times New Roman MT"/>
                <a:cs typeface="Times New Roman MT"/>
                <a:sym typeface="Times New Roman MT"/>
              </a:rPr>
              <a:t>Varsha — 2420030331</a:t>
            </a:r>
          </a:p>
          <a:p>
            <a:pPr algn="ctr" marL="820178" indent="-410089" lvl="1">
              <a:lnSpc>
                <a:spcPts val="5318"/>
              </a:lnSpc>
              <a:spcBef>
                <a:spcPct val="0"/>
              </a:spcBef>
              <a:buFont typeface="Arial"/>
              <a:buChar char="•"/>
            </a:pPr>
          </a:p>
          <a:p>
            <a:pPr algn="ctr">
              <a:lnSpc>
                <a:spcPts val="5318"/>
              </a:lnSpc>
              <a:spcBef>
                <a:spcPct val="0"/>
              </a:spcBef>
            </a:pPr>
            <a:r>
              <a:rPr lang="en-US" b="true" sz="3798">
                <a:solidFill>
                  <a:srgbClr val="FFFFFF"/>
                </a:solidFill>
                <a:latin typeface="Times New Roman MT Bold"/>
                <a:ea typeface="Times New Roman MT Bold"/>
                <a:cs typeface="Times New Roman MT Bold"/>
                <a:sym typeface="Times New Roman MT Bold"/>
              </a:rPr>
              <a:t>Project Guide</a:t>
            </a:r>
            <a:r>
              <a:rPr lang="en-US" sz="3798">
                <a:solidFill>
                  <a:srgbClr val="FFFFFF"/>
                </a:solidFill>
                <a:latin typeface="Times New Roman MT"/>
                <a:ea typeface="Times New Roman MT"/>
                <a:cs typeface="Times New Roman MT"/>
                <a:sym typeface="Times New Roman MT"/>
              </a:rPr>
              <a:t>: Dr. N. Sunanda</a:t>
            </a:r>
          </a:p>
          <a:p>
            <a:pPr algn="ctr">
              <a:lnSpc>
                <a:spcPts val="5318"/>
              </a:lnSpc>
              <a:spcBef>
                <a:spcPct val="0"/>
              </a:spcBef>
            </a:pPr>
            <a:r>
              <a:rPr lang="en-US" b="true" sz="3798">
                <a:solidFill>
                  <a:srgbClr val="FFFFFF"/>
                </a:solidFill>
                <a:latin typeface="Times New Roman MT Bold"/>
                <a:ea typeface="Times New Roman MT Bold"/>
                <a:cs typeface="Times New Roman MT Bold"/>
                <a:sym typeface="Times New Roman MT Bold"/>
              </a:rPr>
              <a:t>Department:</a:t>
            </a:r>
            <a:r>
              <a:rPr lang="en-US" sz="3798">
                <a:solidFill>
                  <a:srgbClr val="FFFFFF"/>
                </a:solidFill>
                <a:latin typeface="Times New Roman MT"/>
                <a:ea typeface="Times New Roman MT"/>
                <a:cs typeface="Times New Roman MT"/>
                <a:sym typeface="Times New Roman MT"/>
              </a:rPr>
              <a:t> Computer Science &amp; Engineering</a:t>
            </a:r>
          </a:p>
          <a:p>
            <a:pPr algn="ctr">
              <a:lnSpc>
                <a:spcPts val="5318"/>
              </a:lnSpc>
              <a:spcBef>
                <a:spcPct val="0"/>
              </a:spcBef>
            </a:pPr>
            <a:r>
              <a:rPr lang="en-US" b="true" sz="3798">
                <a:solidFill>
                  <a:srgbClr val="FFFFFF"/>
                </a:solidFill>
                <a:latin typeface="Times New Roman MT Bold"/>
                <a:ea typeface="Times New Roman MT Bold"/>
                <a:cs typeface="Times New Roman MT Bold"/>
                <a:sym typeface="Times New Roman MT Bold"/>
              </a:rPr>
              <a:t>Course:</a:t>
            </a:r>
            <a:r>
              <a:rPr lang="en-US" sz="3798">
                <a:solidFill>
                  <a:srgbClr val="FFFFFF"/>
                </a:solidFill>
                <a:latin typeface="Times New Roman MT"/>
                <a:ea typeface="Times New Roman MT"/>
                <a:cs typeface="Times New Roman MT"/>
                <a:sym typeface="Times New Roman MT"/>
              </a:rPr>
              <a:t> Data Science (24AD3107)</a:t>
            </a:r>
          </a:p>
          <a:p>
            <a:pPr algn="ctr">
              <a:lnSpc>
                <a:spcPts val="5318"/>
              </a:lnSpc>
              <a:spcBef>
                <a:spcPct val="0"/>
              </a:spcBef>
            </a:pPr>
            <a:r>
              <a:rPr lang="en-US" b="true" sz="3798">
                <a:solidFill>
                  <a:srgbClr val="FFFFFF"/>
                </a:solidFill>
                <a:latin typeface="Times New Roman MT Bold"/>
                <a:ea typeface="Times New Roman MT Bold"/>
                <a:cs typeface="Times New Roman MT Bold"/>
                <a:sym typeface="Times New Roman MT Bold"/>
              </a:rPr>
              <a:t>Academic Year: </a:t>
            </a:r>
            <a:r>
              <a:rPr lang="en-US" sz="3798">
                <a:solidFill>
                  <a:srgbClr val="FFFFFF"/>
                </a:solidFill>
                <a:latin typeface="Times New Roman MT"/>
                <a:ea typeface="Times New Roman MT"/>
                <a:cs typeface="Times New Roman MT"/>
                <a:sym typeface="Times New Roman MT"/>
              </a:rPr>
              <a:t>2026–2027</a:t>
            </a:r>
          </a:p>
          <a:p>
            <a:pPr algn="ctr">
              <a:lnSpc>
                <a:spcPts val="5318"/>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F6FC"/>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6991273" y="791611"/>
            <a:ext cx="743648" cy="1813775"/>
          </a:xfrm>
          <a:custGeom>
            <a:avLst/>
            <a:gdLst/>
            <a:ahLst/>
            <a:cxnLst/>
            <a:rect r="r" b="b" t="t" l="l"/>
            <a:pathLst>
              <a:path h="1813775" w="743648">
                <a:moveTo>
                  <a:pt x="0" y="0"/>
                </a:moveTo>
                <a:lnTo>
                  <a:pt x="743648" y="0"/>
                </a:lnTo>
                <a:lnTo>
                  <a:pt x="743648" y="1813775"/>
                </a:lnTo>
                <a:lnTo>
                  <a:pt x="0" y="18137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800000">
            <a:off x="15508204" y="-553438"/>
            <a:ext cx="1873462" cy="1873462"/>
          </a:xfrm>
          <a:custGeom>
            <a:avLst/>
            <a:gdLst/>
            <a:ahLst/>
            <a:cxnLst/>
            <a:rect r="r" b="b" t="t" l="l"/>
            <a:pathLst>
              <a:path h="1873462" w="1873462">
                <a:moveTo>
                  <a:pt x="1873462" y="0"/>
                </a:moveTo>
                <a:lnTo>
                  <a:pt x="0" y="0"/>
                </a:lnTo>
                <a:lnTo>
                  <a:pt x="0" y="1873462"/>
                </a:lnTo>
                <a:lnTo>
                  <a:pt x="1873462" y="1873462"/>
                </a:lnTo>
                <a:lnTo>
                  <a:pt x="187346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772989"/>
            <a:ext cx="8985467" cy="463796"/>
          </a:xfrm>
          <a:prstGeom prst="rect">
            <a:avLst/>
          </a:prstGeom>
        </p:spPr>
        <p:txBody>
          <a:bodyPr anchor="t" rtlCol="false" tIns="0" lIns="0" bIns="0" rIns="0">
            <a:spAutoFit/>
          </a:bodyPr>
          <a:lstStyle/>
          <a:p>
            <a:pPr algn="l">
              <a:lnSpc>
                <a:spcPts val="3836"/>
              </a:lnSpc>
            </a:pPr>
            <a:r>
              <a:rPr lang="en-US" sz="2740">
                <a:solidFill>
                  <a:srgbClr val="202A61"/>
                </a:solidFill>
                <a:latin typeface="DM Sans"/>
                <a:ea typeface="DM Sans"/>
                <a:cs typeface="DM Sans"/>
                <a:sym typeface="DM Sans"/>
              </a:rPr>
              <a:t>Project </a:t>
            </a:r>
            <a:r>
              <a:rPr lang="en-US" sz="2740">
                <a:solidFill>
                  <a:srgbClr val="202A61"/>
                </a:solidFill>
                <a:latin typeface="DM Sans"/>
                <a:ea typeface="DM Sans"/>
                <a:cs typeface="DM Sans"/>
                <a:sym typeface="DM Sans"/>
              </a:rPr>
              <a:t>Presentation I 03</a:t>
            </a:r>
          </a:p>
        </p:txBody>
      </p:sp>
      <p:grpSp>
        <p:nvGrpSpPr>
          <p:cNvPr name="Group 5" id="5"/>
          <p:cNvGrpSpPr/>
          <p:nvPr/>
        </p:nvGrpSpPr>
        <p:grpSpPr>
          <a:xfrm rot="0">
            <a:off x="1637264" y="1901040"/>
            <a:ext cx="14936812" cy="7413108"/>
            <a:chOff x="0" y="0"/>
            <a:chExt cx="4077325" cy="2023568"/>
          </a:xfrm>
        </p:grpSpPr>
        <p:sp>
          <p:nvSpPr>
            <p:cNvPr name="Freeform 6" id="6"/>
            <p:cNvSpPr/>
            <p:nvPr/>
          </p:nvSpPr>
          <p:spPr>
            <a:xfrm flipH="false" flipV="false" rot="0">
              <a:off x="0" y="0"/>
              <a:ext cx="4077325" cy="2023568"/>
            </a:xfrm>
            <a:custGeom>
              <a:avLst/>
              <a:gdLst/>
              <a:ahLst/>
              <a:cxnLst/>
              <a:rect r="r" b="b" t="t" l="l"/>
              <a:pathLst>
                <a:path h="2023568" w="4077325">
                  <a:moveTo>
                    <a:pt x="17104" y="0"/>
                  </a:moveTo>
                  <a:lnTo>
                    <a:pt x="4060221" y="0"/>
                  </a:lnTo>
                  <a:cubicBezTo>
                    <a:pt x="4069667" y="0"/>
                    <a:pt x="4077325" y="7658"/>
                    <a:pt x="4077325" y="17104"/>
                  </a:cubicBezTo>
                  <a:lnTo>
                    <a:pt x="4077325" y="2006464"/>
                  </a:lnTo>
                  <a:cubicBezTo>
                    <a:pt x="4077325" y="2011000"/>
                    <a:pt x="4075523" y="2015351"/>
                    <a:pt x="4072315" y="2018558"/>
                  </a:cubicBezTo>
                  <a:cubicBezTo>
                    <a:pt x="4069108" y="2021766"/>
                    <a:pt x="4064757" y="2023568"/>
                    <a:pt x="4060221" y="2023568"/>
                  </a:cubicBezTo>
                  <a:lnTo>
                    <a:pt x="17104" y="2023568"/>
                  </a:lnTo>
                  <a:cubicBezTo>
                    <a:pt x="7658" y="2023568"/>
                    <a:pt x="0" y="2015910"/>
                    <a:pt x="0" y="2006464"/>
                  </a:cubicBezTo>
                  <a:lnTo>
                    <a:pt x="0" y="17104"/>
                  </a:lnTo>
                  <a:cubicBezTo>
                    <a:pt x="0" y="7658"/>
                    <a:pt x="7658" y="0"/>
                    <a:pt x="17104" y="0"/>
                  </a:cubicBezTo>
                  <a:close/>
                </a:path>
              </a:pathLst>
            </a:custGeom>
            <a:solidFill>
              <a:srgbClr val="9DC1E6"/>
            </a:solidFill>
          </p:spPr>
        </p:sp>
        <p:sp>
          <p:nvSpPr>
            <p:cNvPr name="TextBox 7" id="7"/>
            <p:cNvSpPr txBox="true"/>
            <p:nvPr/>
          </p:nvSpPr>
          <p:spPr>
            <a:xfrm>
              <a:off x="0" y="-76200"/>
              <a:ext cx="4077325" cy="2099768"/>
            </a:xfrm>
            <a:prstGeom prst="rect">
              <a:avLst/>
            </a:prstGeom>
          </p:spPr>
          <p:txBody>
            <a:bodyPr anchor="ctr" rtlCol="false" tIns="49014" lIns="49014" bIns="49014" rIns="49014"/>
            <a:lstStyle/>
            <a:p>
              <a:pPr algn="ctr">
                <a:lnSpc>
                  <a:spcPts val="2659"/>
                </a:lnSpc>
              </a:pPr>
            </a:p>
          </p:txBody>
        </p:sp>
      </p:grpSp>
      <p:sp>
        <p:nvSpPr>
          <p:cNvPr name="AutoShape 8" id="8"/>
          <p:cNvSpPr/>
          <p:nvPr/>
        </p:nvSpPr>
        <p:spPr>
          <a:xfrm>
            <a:off x="5261850" y="1028700"/>
            <a:ext cx="9494324" cy="0"/>
          </a:xfrm>
          <a:prstGeom prst="line">
            <a:avLst/>
          </a:prstGeom>
          <a:ln cap="flat" w="9525">
            <a:solidFill>
              <a:srgbClr val="202A61"/>
            </a:solidFill>
            <a:prstDash val="solid"/>
            <a:headEnd type="none" len="sm" w="sm"/>
            <a:tailEnd type="none" len="sm" w="sm"/>
          </a:ln>
        </p:spPr>
      </p:sp>
      <p:sp>
        <p:nvSpPr>
          <p:cNvPr name="TextBox 9" id="9"/>
          <p:cNvSpPr txBox="true"/>
          <p:nvPr/>
        </p:nvSpPr>
        <p:spPr>
          <a:xfrm rot="0">
            <a:off x="1775178" y="1728559"/>
            <a:ext cx="14660984" cy="7728148"/>
          </a:xfrm>
          <a:prstGeom prst="rect">
            <a:avLst/>
          </a:prstGeom>
        </p:spPr>
        <p:txBody>
          <a:bodyPr anchor="t" rtlCol="false" tIns="0" lIns="0" bIns="0" rIns="0">
            <a:spAutoFit/>
          </a:bodyPr>
          <a:lstStyle/>
          <a:p>
            <a:pPr algn="l">
              <a:lnSpc>
                <a:spcPts val="6340"/>
              </a:lnSpc>
            </a:pPr>
            <a:r>
              <a:rPr lang="en-US" sz="4528">
                <a:solidFill>
                  <a:srgbClr val="202A61"/>
                </a:solidFill>
                <a:latin typeface="Times New Roman MT"/>
                <a:ea typeface="Times New Roman MT"/>
                <a:cs typeface="Times New Roman MT"/>
                <a:sym typeface="Times New Roman MT"/>
              </a:rPr>
              <a:t>R</a:t>
            </a:r>
            <a:r>
              <a:rPr lang="en-US" sz="4528" b="true">
                <a:solidFill>
                  <a:srgbClr val="202A61"/>
                </a:solidFill>
                <a:latin typeface="Times New Roman MT Bold"/>
                <a:ea typeface="Times New Roman MT Bold"/>
                <a:cs typeface="Times New Roman MT Bold"/>
                <a:sym typeface="Times New Roman MT Bold"/>
              </a:rPr>
              <a:t>eal world relevance</a:t>
            </a:r>
          </a:p>
          <a:p>
            <a:pPr algn="l">
              <a:lnSpc>
                <a:spcPts val="4034"/>
              </a:lnSpc>
            </a:pPr>
            <a:r>
              <a:rPr lang="en-US" sz="2881">
                <a:solidFill>
                  <a:srgbClr val="202A61"/>
                </a:solidFill>
                <a:latin typeface="Times New Roman MT"/>
                <a:ea typeface="Times New Roman MT"/>
                <a:cs typeface="Times New Roman MT"/>
                <a:sym typeface="Times New Roman MT"/>
              </a:rPr>
              <a:t>HealthScope can help users:</a:t>
            </a:r>
          </a:p>
          <a:p>
            <a:pPr algn="l" marL="622219" indent="-311110" lvl="1">
              <a:lnSpc>
                <a:spcPts val="4034"/>
              </a:lnSpc>
              <a:buFont typeface="Arial"/>
              <a:buChar char="•"/>
            </a:pPr>
            <a:r>
              <a:rPr lang="en-US" sz="2881">
                <a:solidFill>
                  <a:srgbClr val="202A61"/>
                </a:solidFill>
                <a:latin typeface="Times New Roman MT"/>
                <a:ea typeface="Times New Roman MT"/>
                <a:cs typeface="Times New Roman MT"/>
                <a:sym typeface="Times New Roman MT"/>
              </a:rPr>
              <a:t>Understand population-level health trends</a:t>
            </a:r>
          </a:p>
          <a:p>
            <a:pPr algn="l" marL="622219" indent="-311110" lvl="1">
              <a:lnSpc>
                <a:spcPts val="4034"/>
              </a:lnSpc>
              <a:buFont typeface="Arial"/>
              <a:buChar char="•"/>
            </a:pPr>
            <a:r>
              <a:rPr lang="en-US" sz="2881">
                <a:solidFill>
                  <a:srgbClr val="202A61"/>
                </a:solidFill>
                <a:latin typeface="Times New Roman MT"/>
                <a:ea typeface="Times New Roman MT"/>
                <a:cs typeface="Times New Roman MT"/>
                <a:sym typeface="Times New Roman MT"/>
              </a:rPr>
              <a:t>Compare demographic groups</a:t>
            </a:r>
          </a:p>
          <a:p>
            <a:pPr algn="l" marL="622219" indent="-311110" lvl="1">
              <a:lnSpc>
                <a:spcPts val="4034"/>
              </a:lnSpc>
              <a:buFont typeface="Arial"/>
              <a:buChar char="•"/>
            </a:pPr>
            <a:r>
              <a:rPr lang="en-US" sz="2881">
                <a:solidFill>
                  <a:srgbClr val="202A61"/>
                </a:solidFill>
                <a:latin typeface="Times New Roman MT"/>
                <a:ea typeface="Times New Roman MT"/>
                <a:cs typeface="Times New Roman MT"/>
                <a:sym typeface="Times New Roman MT"/>
              </a:rPr>
              <a:t>Identify potentially high-risk populations</a:t>
            </a:r>
          </a:p>
          <a:p>
            <a:pPr algn="l" marL="622219" indent="-311110" lvl="1">
              <a:lnSpc>
                <a:spcPts val="4034"/>
              </a:lnSpc>
              <a:buFont typeface="Arial"/>
              <a:buChar char="•"/>
            </a:pPr>
            <a:r>
              <a:rPr lang="en-US" sz="2881">
                <a:solidFill>
                  <a:srgbClr val="202A61"/>
                </a:solidFill>
                <a:latin typeface="Times New Roman MT"/>
                <a:ea typeface="Times New Roman MT"/>
                <a:cs typeface="Times New Roman MT"/>
                <a:sym typeface="Times New Roman MT"/>
              </a:rPr>
              <a:t>Analyze lifestyle and environmental factors</a:t>
            </a:r>
          </a:p>
          <a:p>
            <a:pPr algn="l" marL="622219" indent="-311110" lvl="1">
              <a:lnSpc>
                <a:spcPts val="4034"/>
              </a:lnSpc>
              <a:buFont typeface="Arial"/>
              <a:buChar char="•"/>
            </a:pPr>
            <a:r>
              <a:rPr lang="en-US" sz="2881">
                <a:solidFill>
                  <a:srgbClr val="202A61"/>
                </a:solidFill>
                <a:latin typeface="Times New Roman MT"/>
                <a:ea typeface="Times New Roman MT"/>
                <a:cs typeface="Times New Roman MT"/>
                <a:sym typeface="Times New Roman MT"/>
              </a:rPr>
              <a:t>Examine relationships between health factors and outcomes</a:t>
            </a:r>
          </a:p>
          <a:p>
            <a:pPr algn="l" marL="622219" indent="-311110" lvl="1">
              <a:lnSpc>
                <a:spcPts val="4034"/>
              </a:lnSpc>
              <a:buFont typeface="Arial"/>
              <a:buChar char="•"/>
            </a:pPr>
            <a:r>
              <a:rPr lang="en-US" sz="2881">
                <a:solidFill>
                  <a:srgbClr val="202A61"/>
                </a:solidFill>
                <a:latin typeface="Times New Roman MT"/>
                <a:ea typeface="Times New Roman MT"/>
                <a:cs typeface="Times New Roman MT"/>
                <a:sym typeface="Times New Roman MT"/>
              </a:rPr>
              <a:t>Support public health awareness and preventive planning</a:t>
            </a:r>
          </a:p>
          <a:p>
            <a:pPr algn="l">
              <a:lnSpc>
                <a:spcPts val="4178"/>
              </a:lnSpc>
            </a:pPr>
          </a:p>
          <a:p>
            <a:pPr algn="l">
              <a:lnSpc>
                <a:spcPts val="4178"/>
              </a:lnSpc>
            </a:pPr>
            <a:r>
              <a:rPr lang="en-US" sz="2984" b="true">
                <a:solidFill>
                  <a:srgbClr val="202A61"/>
                </a:solidFill>
                <a:latin typeface="Times New Roman MT Bold"/>
                <a:ea typeface="Times New Roman MT Bold"/>
                <a:cs typeface="Times New Roman MT Bold"/>
                <a:sym typeface="Times New Roman MT Bold"/>
              </a:rPr>
              <a:t>Motivation</a:t>
            </a:r>
          </a:p>
          <a:p>
            <a:pPr algn="l">
              <a:lnSpc>
                <a:spcPts val="4178"/>
              </a:lnSpc>
            </a:pPr>
            <a:r>
              <a:rPr lang="en-US" sz="2984">
                <a:solidFill>
                  <a:srgbClr val="202A61"/>
                </a:solidFill>
                <a:latin typeface="Times New Roman MT"/>
                <a:ea typeface="Times New Roman MT"/>
                <a:cs typeface="Times New Roman MT"/>
                <a:sym typeface="Times New Roman MT"/>
              </a:rPr>
              <a:t>The motivation is to combine data preprocessing, EDA, statistical analysis, visualization, and machine learning into a single platform that converts complex health data into understandable insights.</a:t>
            </a:r>
          </a:p>
          <a:p>
            <a:pPr algn="l">
              <a:lnSpc>
                <a:spcPts val="2737"/>
              </a:lnSpc>
            </a:pPr>
          </a:p>
          <a:p>
            <a:pPr algn="l">
              <a:lnSpc>
                <a:spcPts val="2737"/>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F6FC"/>
        </a:solidFill>
      </p:bgPr>
    </p:bg>
    <p:spTree>
      <p:nvGrpSpPr>
        <p:cNvPr id="1" name=""/>
        <p:cNvGrpSpPr/>
        <p:nvPr/>
      </p:nvGrpSpPr>
      <p:grpSpPr>
        <a:xfrm>
          <a:off x="0" y="0"/>
          <a:ext cx="0" cy="0"/>
          <a:chOff x="0" y="0"/>
          <a:chExt cx="0" cy="0"/>
        </a:xfrm>
      </p:grpSpPr>
      <p:sp>
        <p:nvSpPr>
          <p:cNvPr name="Freeform 2" id="2"/>
          <p:cNvSpPr/>
          <p:nvPr/>
        </p:nvSpPr>
        <p:spPr>
          <a:xfrm flipH="false" flipV="false" rot="0">
            <a:off x="488348" y="7632019"/>
            <a:ext cx="743648" cy="1813775"/>
          </a:xfrm>
          <a:custGeom>
            <a:avLst/>
            <a:gdLst/>
            <a:ahLst/>
            <a:cxnLst/>
            <a:rect r="r" b="b" t="t" l="l"/>
            <a:pathLst>
              <a:path h="1813775" w="743648">
                <a:moveTo>
                  <a:pt x="0" y="0"/>
                </a:moveTo>
                <a:lnTo>
                  <a:pt x="743648" y="0"/>
                </a:lnTo>
                <a:lnTo>
                  <a:pt x="743648" y="1813776"/>
                </a:lnTo>
                <a:lnTo>
                  <a:pt x="0" y="18137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41603" y="8917382"/>
            <a:ext cx="1873462" cy="1873462"/>
          </a:xfrm>
          <a:custGeom>
            <a:avLst/>
            <a:gdLst/>
            <a:ahLst/>
            <a:cxnLst/>
            <a:rect r="r" b="b" t="t" l="l"/>
            <a:pathLst>
              <a:path h="1873462" w="1873462">
                <a:moveTo>
                  <a:pt x="1873462" y="0"/>
                </a:moveTo>
                <a:lnTo>
                  <a:pt x="0" y="0"/>
                </a:lnTo>
                <a:lnTo>
                  <a:pt x="0" y="1873461"/>
                </a:lnTo>
                <a:lnTo>
                  <a:pt x="1873462" y="1873461"/>
                </a:lnTo>
                <a:lnTo>
                  <a:pt x="187346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772989"/>
            <a:ext cx="8985467" cy="463796"/>
          </a:xfrm>
          <a:prstGeom prst="rect">
            <a:avLst/>
          </a:prstGeom>
        </p:spPr>
        <p:txBody>
          <a:bodyPr anchor="t" rtlCol="false" tIns="0" lIns="0" bIns="0" rIns="0">
            <a:spAutoFit/>
          </a:bodyPr>
          <a:lstStyle/>
          <a:p>
            <a:pPr algn="l">
              <a:lnSpc>
                <a:spcPts val="3836"/>
              </a:lnSpc>
            </a:pPr>
            <a:r>
              <a:rPr lang="en-US" sz="2740">
                <a:solidFill>
                  <a:srgbClr val="202A61"/>
                </a:solidFill>
                <a:latin typeface="DM Sans"/>
                <a:ea typeface="DM Sans"/>
                <a:cs typeface="DM Sans"/>
                <a:sym typeface="DM Sans"/>
              </a:rPr>
              <a:t>Project </a:t>
            </a:r>
            <a:r>
              <a:rPr lang="en-US" sz="2740">
                <a:solidFill>
                  <a:srgbClr val="202A61"/>
                </a:solidFill>
                <a:latin typeface="DM Sans"/>
                <a:ea typeface="DM Sans"/>
                <a:cs typeface="DM Sans"/>
                <a:sym typeface="DM Sans"/>
              </a:rPr>
              <a:t>Presentation I 04</a:t>
            </a:r>
          </a:p>
        </p:txBody>
      </p:sp>
      <p:sp>
        <p:nvSpPr>
          <p:cNvPr name="TextBox 5" id="5"/>
          <p:cNvSpPr txBox="true"/>
          <p:nvPr/>
        </p:nvSpPr>
        <p:spPr>
          <a:xfrm rot="0">
            <a:off x="6762301" y="7548679"/>
            <a:ext cx="804524" cy="528947"/>
          </a:xfrm>
          <a:prstGeom prst="rect">
            <a:avLst/>
          </a:prstGeom>
        </p:spPr>
        <p:txBody>
          <a:bodyPr anchor="t" rtlCol="false" tIns="0" lIns="0" bIns="0" rIns="0">
            <a:spAutoFit/>
          </a:bodyPr>
          <a:lstStyle/>
          <a:p>
            <a:pPr algn="ctr">
              <a:lnSpc>
                <a:spcPts val="3894"/>
              </a:lnSpc>
            </a:pPr>
            <a:r>
              <a:rPr lang="en-US" sz="4099" b="true">
                <a:solidFill>
                  <a:srgbClr val="202A61"/>
                </a:solidFill>
                <a:latin typeface="Frasa Display Bold"/>
                <a:ea typeface="Frasa Display Bold"/>
                <a:cs typeface="Frasa Display Bold"/>
                <a:sym typeface="Frasa Display Bold"/>
              </a:rPr>
              <a:t>03</a:t>
            </a:r>
          </a:p>
        </p:txBody>
      </p:sp>
      <p:sp>
        <p:nvSpPr>
          <p:cNvPr name="AutoShape 6" id="6"/>
          <p:cNvSpPr/>
          <p:nvPr/>
        </p:nvSpPr>
        <p:spPr>
          <a:xfrm>
            <a:off x="5261850" y="1028700"/>
            <a:ext cx="11997450" cy="0"/>
          </a:xfrm>
          <a:prstGeom prst="line">
            <a:avLst/>
          </a:prstGeom>
          <a:ln cap="flat" w="9525">
            <a:solidFill>
              <a:srgbClr val="202A61"/>
            </a:solidFill>
            <a:prstDash val="solid"/>
            <a:headEnd type="none" len="sm" w="sm"/>
            <a:tailEnd type="none" len="sm" w="sm"/>
          </a:ln>
        </p:spPr>
      </p:sp>
      <p:sp>
        <p:nvSpPr>
          <p:cNvPr name="TextBox 7" id="7"/>
          <p:cNvSpPr txBox="true"/>
          <p:nvPr/>
        </p:nvSpPr>
        <p:spPr>
          <a:xfrm rot="0">
            <a:off x="1231996" y="1705879"/>
            <a:ext cx="14162604" cy="7631796"/>
          </a:xfrm>
          <a:prstGeom prst="rect">
            <a:avLst/>
          </a:prstGeom>
        </p:spPr>
        <p:txBody>
          <a:bodyPr anchor="t" rtlCol="false" tIns="0" lIns="0" bIns="0" rIns="0">
            <a:spAutoFit/>
          </a:bodyPr>
          <a:lstStyle/>
          <a:p>
            <a:pPr algn="l">
              <a:lnSpc>
                <a:spcPts val="8099"/>
              </a:lnSpc>
            </a:pPr>
            <a:r>
              <a:rPr lang="en-US" sz="5785" b="true">
                <a:solidFill>
                  <a:srgbClr val="202A61"/>
                </a:solidFill>
                <a:latin typeface="Times New Roman MT Bold"/>
                <a:ea typeface="Times New Roman MT Bold"/>
                <a:cs typeface="Times New Roman MT Bold"/>
                <a:sym typeface="Times New Roman MT Bold"/>
              </a:rPr>
              <a:t>Objectives</a:t>
            </a:r>
          </a:p>
          <a:p>
            <a:pPr algn="l" marL="1141163" indent="-570582" lvl="1">
              <a:lnSpc>
                <a:spcPts val="7399"/>
              </a:lnSpc>
              <a:spcBef>
                <a:spcPct val="0"/>
              </a:spcBef>
              <a:buFont typeface="Arial"/>
              <a:buChar char="•"/>
            </a:pPr>
            <a:r>
              <a:rPr lang="en-US" sz="5285">
                <a:solidFill>
                  <a:srgbClr val="202A61"/>
                </a:solidFill>
                <a:latin typeface="Times New Roman MT"/>
                <a:ea typeface="Times New Roman MT"/>
                <a:cs typeface="Times New Roman MT"/>
                <a:sym typeface="Times New Roman MT"/>
              </a:rPr>
              <a:t>C</a:t>
            </a:r>
            <a:r>
              <a:rPr lang="en-US" sz="5285">
                <a:solidFill>
                  <a:srgbClr val="202A61"/>
                </a:solidFill>
                <a:latin typeface="Times New Roman MT"/>
                <a:ea typeface="Times New Roman MT"/>
                <a:cs typeface="Times New Roman MT"/>
                <a:sym typeface="Times New Roman MT"/>
              </a:rPr>
              <a:t>ollect and integrate health datasets</a:t>
            </a:r>
          </a:p>
          <a:p>
            <a:pPr algn="l" marL="1141163" indent="-570582" lvl="1">
              <a:lnSpc>
                <a:spcPts val="7399"/>
              </a:lnSpc>
              <a:spcBef>
                <a:spcPct val="0"/>
              </a:spcBef>
              <a:buFont typeface="Arial"/>
              <a:buChar char="•"/>
            </a:pPr>
            <a:r>
              <a:rPr lang="en-US" sz="5285">
                <a:solidFill>
                  <a:srgbClr val="202A61"/>
                </a:solidFill>
                <a:latin typeface="Times New Roman MT"/>
                <a:ea typeface="Times New Roman MT"/>
                <a:cs typeface="Times New Roman MT"/>
                <a:sym typeface="Times New Roman MT"/>
              </a:rPr>
              <a:t>Clean and preprocess data</a:t>
            </a:r>
          </a:p>
          <a:p>
            <a:pPr algn="l" marL="1141163" indent="-570582" lvl="1">
              <a:lnSpc>
                <a:spcPts val="7399"/>
              </a:lnSpc>
              <a:spcBef>
                <a:spcPct val="0"/>
              </a:spcBef>
              <a:buFont typeface="Arial"/>
              <a:buChar char="•"/>
            </a:pPr>
            <a:r>
              <a:rPr lang="en-US" sz="5285">
                <a:solidFill>
                  <a:srgbClr val="202A61"/>
                </a:solidFill>
                <a:latin typeface="Times New Roman MT"/>
                <a:ea typeface="Times New Roman MT"/>
                <a:cs typeface="Times New Roman MT"/>
                <a:sym typeface="Times New Roman MT"/>
              </a:rPr>
              <a:t>Perform EDA and correlation analysis</a:t>
            </a:r>
          </a:p>
          <a:p>
            <a:pPr algn="l" marL="1141163" indent="-570582" lvl="1">
              <a:lnSpc>
                <a:spcPts val="7399"/>
              </a:lnSpc>
              <a:spcBef>
                <a:spcPct val="0"/>
              </a:spcBef>
              <a:buFont typeface="Arial"/>
              <a:buChar char="•"/>
            </a:pPr>
            <a:r>
              <a:rPr lang="en-US" sz="5285">
                <a:solidFill>
                  <a:srgbClr val="202A61"/>
                </a:solidFill>
                <a:latin typeface="Times New Roman MT"/>
                <a:ea typeface="Times New Roman MT"/>
                <a:cs typeface="Times New Roman MT"/>
                <a:sym typeface="Times New Roman MT"/>
              </a:rPr>
              <a:t>Identify potential high-risk groups</a:t>
            </a:r>
          </a:p>
          <a:p>
            <a:pPr algn="l" marL="1141163" indent="-570582" lvl="1">
              <a:lnSpc>
                <a:spcPts val="7399"/>
              </a:lnSpc>
              <a:spcBef>
                <a:spcPct val="0"/>
              </a:spcBef>
              <a:buFont typeface="Arial"/>
              <a:buChar char="•"/>
            </a:pPr>
            <a:r>
              <a:rPr lang="en-US" sz="5285">
                <a:solidFill>
                  <a:srgbClr val="202A61"/>
                </a:solidFill>
                <a:latin typeface="Times New Roman MT"/>
                <a:ea typeface="Times New Roman MT"/>
                <a:cs typeface="Times New Roman MT"/>
                <a:sym typeface="Times New Roman MT"/>
              </a:rPr>
              <a:t>Develop and evaluate a risk assessment model</a:t>
            </a:r>
          </a:p>
          <a:p>
            <a:pPr algn="l" marL="1141163" indent="-570582" lvl="1">
              <a:lnSpc>
                <a:spcPts val="7399"/>
              </a:lnSpc>
              <a:spcBef>
                <a:spcPct val="0"/>
              </a:spcBef>
              <a:buFont typeface="Arial"/>
              <a:buChar char="•"/>
            </a:pPr>
            <a:r>
              <a:rPr lang="en-US" sz="5285">
                <a:solidFill>
                  <a:srgbClr val="202A61"/>
                </a:solidFill>
                <a:latin typeface="Times New Roman MT"/>
                <a:ea typeface="Times New Roman MT"/>
                <a:cs typeface="Times New Roman MT"/>
                <a:sym typeface="Times New Roman MT"/>
              </a:rPr>
              <a:t>Build an interactive dashboard</a:t>
            </a:r>
          </a:p>
          <a:p>
            <a:pPr algn="l">
              <a:lnSpc>
                <a:spcPts val="739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EFF6FC"/>
        </a:solidFill>
      </p:bgPr>
    </p:bg>
    <p:spTree>
      <p:nvGrpSpPr>
        <p:cNvPr id="1" name=""/>
        <p:cNvGrpSpPr/>
        <p:nvPr/>
      </p:nvGrpSpPr>
      <p:grpSpPr>
        <a:xfrm>
          <a:off x="0" y="0"/>
          <a:ext cx="0" cy="0"/>
          <a:chOff x="0" y="0"/>
          <a:chExt cx="0" cy="0"/>
        </a:xfrm>
      </p:grpSpPr>
      <p:grpSp>
        <p:nvGrpSpPr>
          <p:cNvPr name="Group 2" id="2"/>
          <p:cNvGrpSpPr/>
          <p:nvPr/>
        </p:nvGrpSpPr>
        <p:grpSpPr>
          <a:xfrm rot="0">
            <a:off x="-404465" y="-604003"/>
            <a:ext cx="18954880" cy="4448081"/>
            <a:chOff x="0" y="0"/>
            <a:chExt cx="4992232" cy="1171511"/>
          </a:xfrm>
        </p:grpSpPr>
        <p:sp>
          <p:nvSpPr>
            <p:cNvPr name="Freeform 3" id="3"/>
            <p:cNvSpPr/>
            <p:nvPr/>
          </p:nvSpPr>
          <p:spPr>
            <a:xfrm flipH="false" flipV="false" rot="0">
              <a:off x="0" y="0"/>
              <a:ext cx="4992232" cy="1171511"/>
            </a:xfrm>
            <a:custGeom>
              <a:avLst/>
              <a:gdLst/>
              <a:ahLst/>
              <a:cxnLst/>
              <a:rect r="r" b="b" t="t" l="l"/>
              <a:pathLst>
                <a:path h="1171511" w="4992232">
                  <a:moveTo>
                    <a:pt x="0" y="0"/>
                  </a:moveTo>
                  <a:lnTo>
                    <a:pt x="4992232" y="0"/>
                  </a:lnTo>
                  <a:lnTo>
                    <a:pt x="4992232" y="1171511"/>
                  </a:lnTo>
                  <a:lnTo>
                    <a:pt x="0" y="1171511"/>
                  </a:lnTo>
                  <a:close/>
                </a:path>
              </a:pathLst>
            </a:custGeom>
            <a:solidFill>
              <a:srgbClr val="202A61">
                <a:alpha val="94902"/>
              </a:srgbClr>
            </a:solidFill>
          </p:spPr>
        </p:sp>
        <p:sp>
          <p:nvSpPr>
            <p:cNvPr name="TextBox 4" id="4"/>
            <p:cNvSpPr txBox="true"/>
            <p:nvPr/>
          </p:nvSpPr>
          <p:spPr>
            <a:xfrm>
              <a:off x="0" y="-76200"/>
              <a:ext cx="4992232" cy="1247711"/>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772989"/>
            <a:ext cx="8985467" cy="463796"/>
          </a:xfrm>
          <a:prstGeom prst="rect">
            <a:avLst/>
          </a:prstGeom>
        </p:spPr>
        <p:txBody>
          <a:bodyPr anchor="t" rtlCol="false" tIns="0" lIns="0" bIns="0" rIns="0">
            <a:spAutoFit/>
          </a:bodyPr>
          <a:lstStyle/>
          <a:p>
            <a:pPr algn="l">
              <a:lnSpc>
                <a:spcPts val="3836"/>
              </a:lnSpc>
            </a:pPr>
            <a:r>
              <a:rPr lang="en-US" sz="2740">
                <a:solidFill>
                  <a:srgbClr val="EFF6FC"/>
                </a:solidFill>
                <a:latin typeface="DM Sans"/>
                <a:ea typeface="DM Sans"/>
                <a:cs typeface="DM Sans"/>
                <a:sym typeface="DM Sans"/>
              </a:rPr>
              <a:t>Project Presentation I 06</a:t>
            </a:r>
          </a:p>
        </p:txBody>
      </p:sp>
      <p:sp>
        <p:nvSpPr>
          <p:cNvPr name="TextBox 6" id="6"/>
          <p:cNvSpPr txBox="true"/>
          <p:nvPr/>
        </p:nvSpPr>
        <p:spPr>
          <a:xfrm rot="0">
            <a:off x="1185375" y="2067916"/>
            <a:ext cx="9136035" cy="1263782"/>
          </a:xfrm>
          <a:prstGeom prst="rect">
            <a:avLst/>
          </a:prstGeom>
        </p:spPr>
        <p:txBody>
          <a:bodyPr anchor="t" rtlCol="false" tIns="0" lIns="0" bIns="0" rIns="0">
            <a:spAutoFit/>
          </a:bodyPr>
          <a:lstStyle/>
          <a:p>
            <a:pPr algn="l">
              <a:lnSpc>
                <a:spcPts val="9313"/>
              </a:lnSpc>
            </a:pPr>
            <a:r>
              <a:rPr lang="en-US" sz="9804" b="true">
                <a:solidFill>
                  <a:srgbClr val="EFF6FC"/>
                </a:solidFill>
                <a:latin typeface="Frasa Display Bold"/>
                <a:ea typeface="Frasa Display Bold"/>
                <a:cs typeface="Frasa Display Bold"/>
                <a:sym typeface="Frasa Display Bold"/>
              </a:rPr>
              <a:t>Exis</a:t>
            </a:r>
            <a:r>
              <a:rPr lang="en-US" sz="9804" b="true">
                <a:solidFill>
                  <a:srgbClr val="EFF6FC"/>
                </a:solidFill>
                <a:latin typeface="Frasa Display Bold"/>
                <a:ea typeface="Frasa Display Bold"/>
                <a:cs typeface="Frasa Display Bold"/>
                <a:sym typeface="Frasa Display Bold"/>
              </a:rPr>
              <a:t>ting System</a:t>
            </a:r>
          </a:p>
        </p:txBody>
      </p:sp>
      <p:sp>
        <p:nvSpPr>
          <p:cNvPr name="AutoShape 7" id="7"/>
          <p:cNvSpPr/>
          <p:nvPr/>
        </p:nvSpPr>
        <p:spPr>
          <a:xfrm>
            <a:off x="5261850" y="1028700"/>
            <a:ext cx="11878293" cy="0"/>
          </a:xfrm>
          <a:prstGeom prst="line">
            <a:avLst/>
          </a:prstGeom>
          <a:ln cap="flat" w="9525">
            <a:solidFill>
              <a:srgbClr val="EFF6FC"/>
            </a:solidFill>
            <a:prstDash val="solid"/>
            <a:headEnd type="none" len="sm" w="sm"/>
            <a:tailEnd type="none" len="sm" w="sm"/>
          </a:ln>
        </p:spPr>
      </p:sp>
      <p:sp>
        <p:nvSpPr>
          <p:cNvPr name="TextBox 8" id="8"/>
          <p:cNvSpPr txBox="true"/>
          <p:nvPr/>
        </p:nvSpPr>
        <p:spPr>
          <a:xfrm rot="0">
            <a:off x="1485962" y="3852319"/>
            <a:ext cx="14191179" cy="5614963"/>
          </a:xfrm>
          <a:prstGeom prst="rect">
            <a:avLst/>
          </a:prstGeom>
        </p:spPr>
        <p:txBody>
          <a:bodyPr anchor="t" rtlCol="false" tIns="0" lIns="0" bIns="0" rIns="0">
            <a:spAutoFit/>
          </a:bodyPr>
          <a:lstStyle/>
          <a:p>
            <a:pPr algn="l">
              <a:lnSpc>
                <a:spcPts val="5513"/>
              </a:lnSpc>
              <a:spcBef>
                <a:spcPct val="0"/>
              </a:spcBef>
            </a:pPr>
            <a:r>
              <a:rPr lang="en-US" b="true" sz="3938">
                <a:solidFill>
                  <a:srgbClr val="000000"/>
                </a:solidFill>
                <a:latin typeface="Times New Roman MT Bold"/>
                <a:ea typeface="Times New Roman MT Bold"/>
                <a:cs typeface="Times New Roman MT Bold"/>
                <a:sym typeface="Times New Roman MT Bold"/>
              </a:rPr>
              <a:t>Existing Appr</a:t>
            </a:r>
            <a:r>
              <a:rPr lang="en-US" b="true" sz="3938">
                <a:solidFill>
                  <a:srgbClr val="000000"/>
                </a:solidFill>
                <a:latin typeface="Times New Roman MT Bold"/>
                <a:ea typeface="Times New Roman MT Bold"/>
                <a:cs typeface="Times New Roman MT Bold"/>
                <a:sym typeface="Times New Roman MT Bold"/>
              </a:rPr>
              <a:t>oaches</a:t>
            </a:r>
          </a:p>
          <a:p>
            <a:pPr algn="l" marL="850318" indent="-425159" lvl="1">
              <a:lnSpc>
                <a:spcPts val="5513"/>
              </a:lnSpc>
              <a:spcBef>
                <a:spcPct val="0"/>
              </a:spcBef>
              <a:buFont typeface="Arial"/>
              <a:buChar char="•"/>
            </a:pPr>
            <a:r>
              <a:rPr lang="en-US" sz="3938">
                <a:solidFill>
                  <a:srgbClr val="000000"/>
                </a:solidFill>
                <a:latin typeface="Times New Roman MT"/>
                <a:ea typeface="Times New Roman MT"/>
                <a:cs typeface="Times New Roman MT"/>
                <a:sym typeface="Times New Roman MT"/>
              </a:rPr>
              <a:t>WHO &amp; CDC health databases</a:t>
            </a:r>
          </a:p>
          <a:p>
            <a:pPr algn="l" marL="850318" indent="-425159" lvl="1">
              <a:lnSpc>
                <a:spcPts val="5513"/>
              </a:lnSpc>
              <a:spcBef>
                <a:spcPct val="0"/>
              </a:spcBef>
              <a:buFont typeface="Arial"/>
              <a:buChar char="•"/>
            </a:pPr>
            <a:r>
              <a:rPr lang="en-US" sz="3938">
                <a:solidFill>
                  <a:srgbClr val="000000"/>
                </a:solidFill>
                <a:latin typeface="Times New Roman MT"/>
                <a:ea typeface="Times New Roman MT"/>
                <a:cs typeface="Times New Roman MT"/>
                <a:sym typeface="Times New Roman MT"/>
              </a:rPr>
              <a:t>Government health data portals</a:t>
            </a:r>
          </a:p>
          <a:p>
            <a:pPr algn="l" marL="850318" indent="-425159" lvl="1">
              <a:lnSpc>
                <a:spcPts val="5513"/>
              </a:lnSpc>
              <a:spcBef>
                <a:spcPct val="0"/>
              </a:spcBef>
              <a:buFont typeface="Arial"/>
              <a:buChar char="•"/>
            </a:pPr>
            <a:r>
              <a:rPr lang="en-US" sz="3938">
                <a:solidFill>
                  <a:srgbClr val="000000"/>
                </a:solidFill>
                <a:latin typeface="Times New Roman MT"/>
                <a:ea typeface="Times New Roman MT"/>
                <a:cs typeface="Times New Roman MT"/>
                <a:sym typeface="Times New Roman MT"/>
              </a:rPr>
              <a:t>Python/R-based data analysis</a:t>
            </a:r>
          </a:p>
          <a:p>
            <a:pPr algn="l" marL="850318" indent="-425159" lvl="1">
              <a:lnSpc>
                <a:spcPts val="5513"/>
              </a:lnSpc>
              <a:spcBef>
                <a:spcPct val="0"/>
              </a:spcBef>
              <a:buFont typeface="Arial"/>
              <a:buChar char="•"/>
            </a:pPr>
            <a:r>
              <a:rPr lang="en-US" sz="3938">
                <a:solidFill>
                  <a:srgbClr val="000000"/>
                </a:solidFill>
                <a:latin typeface="Times New Roman MT"/>
                <a:ea typeface="Times New Roman MT"/>
                <a:cs typeface="Times New Roman MT"/>
                <a:sym typeface="Times New Roman MT"/>
              </a:rPr>
              <a:t>Individual ML prediction models</a:t>
            </a:r>
          </a:p>
          <a:p>
            <a:pPr algn="l">
              <a:lnSpc>
                <a:spcPts val="5513"/>
              </a:lnSpc>
              <a:spcBef>
                <a:spcPct val="0"/>
              </a:spcBef>
            </a:pPr>
            <a:r>
              <a:rPr lang="en-US" b="true" sz="3938">
                <a:solidFill>
                  <a:srgbClr val="000000"/>
                </a:solidFill>
                <a:latin typeface="Times New Roman MT Bold"/>
                <a:ea typeface="Times New Roman MT Bold"/>
                <a:cs typeface="Times New Roman MT Bold"/>
                <a:sym typeface="Times New Roman MT Bold"/>
              </a:rPr>
              <a:t>Limitation:</a:t>
            </a:r>
          </a:p>
          <a:p>
            <a:pPr algn="l">
              <a:lnSpc>
                <a:spcPts val="5513"/>
              </a:lnSpc>
              <a:spcBef>
                <a:spcPct val="0"/>
              </a:spcBef>
            </a:pPr>
            <a:r>
              <a:rPr lang="en-US" sz="3938">
                <a:solidFill>
                  <a:srgbClr val="000000"/>
                </a:solidFill>
                <a:latin typeface="Times New Roman MT"/>
                <a:ea typeface="Times New Roman MT"/>
                <a:cs typeface="Times New Roman MT"/>
                <a:sym typeface="Times New Roman MT"/>
              </a:rPr>
              <a:t> Analysis, visualization and prediction are often handled separately</a:t>
            </a:r>
            <a:r>
              <a:rPr lang="en-US" sz="3938">
                <a:solidFill>
                  <a:srgbClr val="000000"/>
                </a:solidFill>
                <a:latin typeface="Times New Roman MT"/>
                <a:ea typeface="Times New Roman MT"/>
                <a:cs typeface="Times New Roman MT"/>
                <a:sym typeface="Times New Roman MT"/>
              </a:rPr>
              <a:t>.</a:t>
            </a:r>
          </a:p>
          <a:p>
            <a:pPr algn="l">
              <a:lnSpc>
                <a:spcPts val="5513"/>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F6FC"/>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6991273" y="791611"/>
            <a:ext cx="743648" cy="1813775"/>
          </a:xfrm>
          <a:custGeom>
            <a:avLst/>
            <a:gdLst/>
            <a:ahLst/>
            <a:cxnLst/>
            <a:rect r="r" b="b" t="t" l="l"/>
            <a:pathLst>
              <a:path h="1813775" w="743648">
                <a:moveTo>
                  <a:pt x="0" y="0"/>
                </a:moveTo>
                <a:lnTo>
                  <a:pt x="743648" y="0"/>
                </a:lnTo>
                <a:lnTo>
                  <a:pt x="743648" y="1813775"/>
                </a:lnTo>
                <a:lnTo>
                  <a:pt x="0" y="18137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800000">
            <a:off x="15508204" y="-553438"/>
            <a:ext cx="1873462" cy="1873462"/>
          </a:xfrm>
          <a:custGeom>
            <a:avLst/>
            <a:gdLst/>
            <a:ahLst/>
            <a:cxnLst/>
            <a:rect r="r" b="b" t="t" l="l"/>
            <a:pathLst>
              <a:path h="1873462" w="1873462">
                <a:moveTo>
                  <a:pt x="1873462" y="0"/>
                </a:moveTo>
                <a:lnTo>
                  <a:pt x="0" y="0"/>
                </a:lnTo>
                <a:lnTo>
                  <a:pt x="0" y="1873462"/>
                </a:lnTo>
                <a:lnTo>
                  <a:pt x="1873462" y="1873462"/>
                </a:lnTo>
                <a:lnTo>
                  <a:pt x="187346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199156" y="344787"/>
            <a:ext cx="6795542" cy="2150500"/>
          </a:xfrm>
          <a:prstGeom prst="rect">
            <a:avLst/>
          </a:prstGeom>
        </p:spPr>
        <p:txBody>
          <a:bodyPr anchor="t" rtlCol="false" tIns="0" lIns="0" bIns="0" rIns="0">
            <a:spAutoFit/>
          </a:bodyPr>
          <a:lstStyle/>
          <a:p>
            <a:pPr algn="ctr">
              <a:lnSpc>
                <a:spcPts val="8200"/>
              </a:lnSpc>
            </a:pPr>
            <a:r>
              <a:rPr lang="en-US" sz="8632" b="true">
                <a:solidFill>
                  <a:srgbClr val="202A61"/>
                </a:solidFill>
                <a:latin typeface="Frasa Display Bold"/>
                <a:ea typeface="Frasa Display Bold"/>
                <a:cs typeface="Frasa Display Bold"/>
                <a:sym typeface="Frasa Display Bold"/>
              </a:rPr>
              <a:t>Proposed System</a:t>
            </a:r>
          </a:p>
        </p:txBody>
      </p:sp>
      <p:sp>
        <p:nvSpPr>
          <p:cNvPr name="TextBox 5" id="5"/>
          <p:cNvSpPr txBox="true"/>
          <p:nvPr/>
        </p:nvSpPr>
        <p:spPr>
          <a:xfrm rot="0">
            <a:off x="2392696" y="2611503"/>
            <a:ext cx="11845378" cy="7103082"/>
          </a:xfrm>
          <a:prstGeom prst="rect">
            <a:avLst/>
          </a:prstGeom>
        </p:spPr>
        <p:txBody>
          <a:bodyPr anchor="t" rtlCol="false" tIns="0" lIns="0" bIns="0" rIns="0">
            <a:spAutoFit/>
          </a:bodyPr>
          <a:lstStyle/>
          <a:p>
            <a:pPr algn="ctr">
              <a:lnSpc>
                <a:spcPts val="4341"/>
              </a:lnSpc>
              <a:spcBef>
                <a:spcPct val="0"/>
              </a:spcBef>
            </a:pPr>
          </a:p>
          <a:p>
            <a:pPr algn="ctr">
              <a:lnSpc>
                <a:spcPts val="4341"/>
              </a:lnSpc>
              <a:spcBef>
                <a:spcPct val="0"/>
              </a:spcBef>
            </a:pPr>
            <a:r>
              <a:rPr lang="en-US" sz="3101">
                <a:solidFill>
                  <a:srgbClr val="202A61"/>
                </a:solidFill>
                <a:latin typeface="Times New Roman MT"/>
                <a:ea typeface="Times New Roman MT"/>
                <a:cs typeface="Times New Roman MT"/>
                <a:sym typeface="Times New Roman MT"/>
              </a:rPr>
              <a:t>Data Collection</a:t>
            </a:r>
          </a:p>
          <a:p>
            <a:pPr algn="ctr">
              <a:lnSpc>
                <a:spcPts val="4341"/>
              </a:lnSpc>
              <a:spcBef>
                <a:spcPct val="0"/>
              </a:spcBef>
            </a:pPr>
            <a:r>
              <a:rPr lang="en-US" sz="3101">
                <a:solidFill>
                  <a:srgbClr val="202A61"/>
                </a:solidFill>
                <a:latin typeface="Times New Roman MT"/>
                <a:ea typeface="Times New Roman MT"/>
                <a:cs typeface="Times New Roman MT"/>
                <a:sym typeface="Times New Roman MT"/>
              </a:rPr>
              <a:t> ↓</a:t>
            </a:r>
          </a:p>
          <a:p>
            <a:pPr algn="ctr">
              <a:lnSpc>
                <a:spcPts val="4341"/>
              </a:lnSpc>
              <a:spcBef>
                <a:spcPct val="0"/>
              </a:spcBef>
            </a:pPr>
            <a:r>
              <a:rPr lang="en-US" sz="3101">
                <a:solidFill>
                  <a:srgbClr val="202A61"/>
                </a:solidFill>
                <a:latin typeface="Times New Roman MT"/>
                <a:ea typeface="Times New Roman MT"/>
                <a:cs typeface="Times New Roman MT"/>
                <a:sym typeface="Times New Roman MT"/>
              </a:rPr>
              <a:t> Data Preprocessing</a:t>
            </a:r>
          </a:p>
          <a:p>
            <a:pPr algn="ctr">
              <a:lnSpc>
                <a:spcPts val="4341"/>
              </a:lnSpc>
              <a:spcBef>
                <a:spcPct val="0"/>
              </a:spcBef>
            </a:pPr>
            <a:r>
              <a:rPr lang="en-US" sz="3101">
                <a:solidFill>
                  <a:srgbClr val="202A61"/>
                </a:solidFill>
                <a:latin typeface="Times New Roman MT"/>
                <a:ea typeface="Times New Roman MT"/>
                <a:cs typeface="Times New Roman MT"/>
                <a:sym typeface="Times New Roman MT"/>
              </a:rPr>
              <a:t> ↓</a:t>
            </a:r>
          </a:p>
          <a:p>
            <a:pPr algn="ctr">
              <a:lnSpc>
                <a:spcPts val="4341"/>
              </a:lnSpc>
              <a:spcBef>
                <a:spcPct val="0"/>
              </a:spcBef>
            </a:pPr>
            <a:r>
              <a:rPr lang="en-US" sz="3101">
                <a:solidFill>
                  <a:srgbClr val="202A61"/>
                </a:solidFill>
                <a:latin typeface="Times New Roman MT"/>
                <a:ea typeface="Times New Roman MT"/>
                <a:cs typeface="Times New Roman MT"/>
                <a:sym typeface="Times New Roman MT"/>
              </a:rPr>
              <a:t> EDA &amp; Correlation</a:t>
            </a:r>
          </a:p>
          <a:p>
            <a:pPr algn="ctr">
              <a:lnSpc>
                <a:spcPts val="4341"/>
              </a:lnSpc>
              <a:spcBef>
                <a:spcPct val="0"/>
              </a:spcBef>
            </a:pPr>
            <a:r>
              <a:rPr lang="en-US" sz="3101">
                <a:solidFill>
                  <a:srgbClr val="202A61"/>
                </a:solidFill>
                <a:latin typeface="Times New Roman MT"/>
                <a:ea typeface="Times New Roman MT"/>
                <a:cs typeface="Times New Roman MT"/>
                <a:sym typeface="Times New Roman MT"/>
              </a:rPr>
              <a:t> ↓</a:t>
            </a:r>
          </a:p>
          <a:p>
            <a:pPr algn="ctr">
              <a:lnSpc>
                <a:spcPts val="4341"/>
              </a:lnSpc>
              <a:spcBef>
                <a:spcPct val="0"/>
              </a:spcBef>
            </a:pPr>
            <a:r>
              <a:rPr lang="en-US" sz="3101">
                <a:solidFill>
                  <a:srgbClr val="202A61"/>
                </a:solidFill>
                <a:latin typeface="Times New Roman MT"/>
                <a:ea typeface="Times New Roman MT"/>
                <a:cs typeface="Times New Roman MT"/>
                <a:sym typeface="Times New Roman MT"/>
              </a:rPr>
              <a:t> Risk Assessment</a:t>
            </a:r>
          </a:p>
          <a:p>
            <a:pPr algn="ctr">
              <a:lnSpc>
                <a:spcPts val="4341"/>
              </a:lnSpc>
              <a:spcBef>
                <a:spcPct val="0"/>
              </a:spcBef>
            </a:pPr>
            <a:r>
              <a:rPr lang="en-US" sz="3101">
                <a:solidFill>
                  <a:srgbClr val="202A61"/>
                </a:solidFill>
                <a:latin typeface="Times New Roman MT"/>
                <a:ea typeface="Times New Roman MT"/>
                <a:cs typeface="Times New Roman MT"/>
                <a:sym typeface="Times New Roman MT"/>
              </a:rPr>
              <a:t> ↓</a:t>
            </a:r>
          </a:p>
          <a:p>
            <a:pPr algn="ctr">
              <a:lnSpc>
                <a:spcPts val="4341"/>
              </a:lnSpc>
              <a:spcBef>
                <a:spcPct val="0"/>
              </a:spcBef>
            </a:pPr>
            <a:r>
              <a:rPr lang="en-US" sz="3101">
                <a:solidFill>
                  <a:srgbClr val="202A61"/>
                </a:solidFill>
                <a:latin typeface="Times New Roman MT"/>
                <a:ea typeface="Times New Roman MT"/>
                <a:cs typeface="Times New Roman MT"/>
                <a:sym typeface="Times New Roman MT"/>
              </a:rPr>
              <a:t> Visualization &amp; Dashboard</a:t>
            </a:r>
          </a:p>
          <a:p>
            <a:pPr algn="ctr">
              <a:lnSpc>
                <a:spcPts val="4341"/>
              </a:lnSpc>
              <a:spcBef>
                <a:spcPct val="0"/>
              </a:spcBef>
            </a:pPr>
          </a:p>
          <a:p>
            <a:pPr algn="ctr">
              <a:lnSpc>
                <a:spcPts val="4341"/>
              </a:lnSpc>
              <a:spcBef>
                <a:spcPct val="0"/>
              </a:spcBef>
            </a:pPr>
            <a:r>
              <a:rPr lang="en-US" b="true" sz="3101">
                <a:solidFill>
                  <a:srgbClr val="202A61"/>
                </a:solidFill>
                <a:latin typeface="Times New Roman MT Bold"/>
                <a:ea typeface="Times New Roman MT Bold"/>
                <a:cs typeface="Times New Roman MT Bold"/>
                <a:sym typeface="Times New Roman MT Bold"/>
              </a:rPr>
              <a:t>Key Benefit:</a:t>
            </a:r>
          </a:p>
          <a:p>
            <a:pPr algn="ctr">
              <a:lnSpc>
                <a:spcPts val="4341"/>
              </a:lnSpc>
              <a:spcBef>
                <a:spcPct val="0"/>
              </a:spcBef>
            </a:pPr>
            <a:r>
              <a:rPr lang="en-US" sz="3101">
                <a:solidFill>
                  <a:srgbClr val="202A61"/>
                </a:solidFill>
                <a:latin typeface="Times New Roman MT"/>
                <a:ea typeface="Times New Roman MT"/>
                <a:cs typeface="Times New Roman MT"/>
                <a:sym typeface="Times New Roman MT"/>
              </a:rPr>
              <a:t>End-to-end public health analytics in one platform.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F6FC"/>
        </a:solidFill>
      </p:bgPr>
    </p:bg>
    <p:spTree>
      <p:nvGrpSpPr>
        <p:cNvPr id="1" name=""/>
        <p:cNvGrpSpPr/>
        <p:nvPr/>
      </p:nvGrpSpPr>
      <p:grpSpPr>
        <a:xfrm>
          <a:off x="0" y="0"/>
          <a:ext cx="0" cy="0"/>
          <a:chOff x="0" y="0"/>
          <a:chExt cx="0" cy="0"/>
        </a:xfrm>
      </p:grpSpPr>
      <p:sp>
        <p:nvSpPr>
          <p:cNvPr name="TextBox 2" id="2"/>
          <p:cNvSpPr txBox="true"/>
          <p:nvPr/>
        </p:nvSpPr>
        <p:spPr>
          <a:xfrm rot="0">
            <a:off x="1028700" y="772989"/>
            <a:ext cx="8985467" cy="463796"/>
          </a:xfrm>
          <a:prstGeom prst="rect">
            <a:avLst/>
          </a:prstGeom>
        </p:spPr>
        <p:txBody>
          <a:bodyPr anchor="t" rtlCol="false" tIns="0" lIns="0" bIns="0" rIns="0">
            <a:spAutoFit/>
          </a:bodyPr>
          <a:lstStyle/>
          <a:p>
            <a:pPr algn="l">
              <a:lnSpc>
                <a:spcPts val="3836"/>
              </a:lnSpc>
            </a:pPr>
            <a:r>
              <a:rPr lang="en-US" sz="2740">
                <a:solidFill>
                  <a:srgbClr val="202A61"/>
                </a:solidFill>
                <a:latin typeface="DM Sans"/>
                <a:ea typeface="DM Sans"/>
                <a:cs typeface="DM Sans"/>
                <a:sym typeface="DM Sans"/>
              </a:rPr>
              <a:t>Project </a:t>
            </a:r>
            <a:r>
              <a:rPr lang="en-US" sz="2740">
                <a:solidFill>
                  <a:srgbClr val="202A61"/>
                </a:solidFill>
                <a:latin typeface="DM Sans"/>
                <a:ea typeface="DM Sans"/>
                <a:cs typeface="DM Sans"/>
                <a:sym typeface="DM Sans"/>
              </a:rPr>
              <a:t>Presentation I 08</a:t>
            </a:r>
          </a:p>
        </p:txBody>
      </p:sp>
      <p:sp>
        <p:nvSpPr>
          <p:cNvPr name="TextBox 3" id="3"/>
          <p:cNvSpPr txBox="true"/>
          <p:nvPr/>
        </p:nvSpPr>
        <p:spPr>
          <a:xfrm rot="0">
            <a:off x="5005921" y="1228725"/>
            <a:ext cx="7339333" cy="2150500"/>
          </a:xfrm>
          <a:prstGeom prst="rect">
            <a:avLst/>
          </a:prstGeom>
        </p:spPr>
        <p:txBody>
          <a:bodyPr anchor="t" rtlCol="false" tIns="0" lIns="0" bIns="0" rIns="0">
            <a:spAutoFit/>
          </a:bodyPr>
          <a:lstStyle/>
          <a:p>
            <a:pPr algn="ctr">
              <a:lnSpc>
                <a:spcPts val="8200"/>
              </a:lnSpc>
            </a:pPr>
            <a:r>
              <a:rPr lang="en-US" sz="8632" b="true">
                <a:solidFill>
                  <a:srgbClr val="202A61"/>
                </a:solidFill>
                <a:latin typeface="Frasa Display Bold"/>
                <a:ea typeface="Frasa Display Bold"/>
                <a:cs typeface="Frasa Display Bold"/>
                <a:sym typeface="Frasa Display Bold"/>
              </a:rPr>
              <a:t>Expected Outcomes</a:t>
            </a:r>
          </a:p>
        </p:txBody>
      </p:sp>
      <p:grpSp>
        <p:nvGrpSpPr>
          <p:cNvPr name="Group 4" id="4"/>
          <p:cNvGrpSpPr/>
          <p:nvPr/>
        </p:nvGrpSpPr>
        <p:grpSpPr>
          <a:xfrm rot="0">
            <a:off x="1234328" y="3855973"/>
            <a:ext cx="4352047" cy="435204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6FC"/>
            </a:solidFill>
          </p:spPr>
        </p:sp>
        <p:sp>
          <p:nvSpPr>
            <p:cNvPr name="TextBox 6" id="6"/>
            <p:cNvSpPr txBox="true"/>
            <p:nvPr/>
          </p:nvSpPr>
          <p:spPr>
            <a:xfrm>
              <a:off x="76200" y="0"/>
              <a:ext cx="660400" cy="736600"/>
            </a:xfrm>
            <a:prstGeom prst="rect">
              <a:avLst/>
            </a:prstGeom>
          </p:spPr>
          <p:txBody>
            <a:bodyPr anchor="ctr" rtlCol="false" tIns="46156" lIns="46156" bIns="46156" rIns="46156"/>
            <a:lstStyle/>
            <a:p>
              <a:pPr algn="ctr">
                <a:lnSpc>
                  <a:spcPts val="2659"/>
                </a:lnSpc>
                <a:spcBef>
                  <a:spcPct val="0"/>
                </a:spcBef>
              </a:pPr>
            </a:p>
          </p:txBody>
        </p:sp>
      </p:grpSp>
      <p:grpSp>
        <p:nvGrpSpPr>
          <p:cNvPr name="Group 7" id="7"/>
          <p:cNvGrpSpPr/>
          <p:nvPr/>
        </p:nvGrpSpPr>
        <p:grpSpPr>
          <a:xfrm rot="0">
            <a:off x="1369177" y="3990822"/>
            <a:ext cx="4082349" cy="408234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DC1E6"/>
            </a:solidFill>
          </p:spPr>
        </p:sp>
        <p:sp>
          <p:nvSpPr>
            <p:cNvPr name="TextBox 9" id="9"/>
            <p:cNvSpPr txBox="true"/>
            <p:nvPr/>
          </p:nvSpPr>
          <p:spPr>
            <a:xfrm>
              <a:off x="76200" y="0"/>
              <a:ext cx="660400" cy="736600"/>
            </a:xfrm>
            <a:prstGeom prst="rect">
              <a:avLst/>
            </a:prstGeom>
          </p:spPr>
          <p:txBody>
            <a:bodyPr anchor="ctr" rtlCol="false" tIns="46156" lIns="46156" bIns="46156" rIns="46156"/>
            <a:lstStyle/>
            <a:p>
              <a:pPr algn="ctr">
                <a:lnSpc>
                  <a:spcPts val="2659"/>
                </a:lnSpc>
                <a:spcBef>
                  <a:spcPct val="0"/>
                </a:spcBef>
              </a:pPr>
            </a:p>
          </p:txBody>
        </p:sp>
      </p:grpSp>
      <p:sp>
        <p:nvSpPr>
          <p:cNvPr name="TextBox 10" id="10"/>
          <p:cNvSpPr txBox="true"/>
          <p:nvPr/>
        </p:nvSpPr>
        <p:spPr>
          <a:xfrm rot="0">
            <a:off x="1967547" y="4964725"/>
            <a:ext cx="2885608" cy="1752838"/>
          </a:xfrm>
          <a:prstGeom prst="rect">
            <a:avLst/>
          </a:prstGeom>
        </p:spPr>
        <p:txBody>
          <a:bodyPr anchor="t" rtlCol="false" tIns="0" lIns="0" bIns="0" rIns="0">
            <a:spAutoFit/>
          </a:bodyPr>
          <a:lstStyle/>
          <a:p>
            <a:pPr algn="l">
              <a:lnSpc>
                <a:spcPts val="4711"/>
              </a:lnSpc>
            </a:pPr>
            <a:r>
              <a:rPr lang="en-US" sz="3365">
                <a:solidFill>
                  <a:srgbClr val="202A61"/>
                </a:solidFill>
                <a:latin typeface="DM Sans"/>
                <a:ea typeface="DM Sans"/>
                <a:cs typeface="DM Sans"/>
                <a:sym typeface="DM Sans"/>
              </a:rPr>
              <a:t>C</a:t>
            </a:r>
            <a:r>
              <a:rPr lang="en-US" sz="3365">
                <a:solidFill>
                  <a:srgbClr val="202A61"/>
                </a:solidFill>
                <a:latin typeface="DM Sans"/>
                <a:ea typeface="DM Sans"/>
                <a:cs typeface="DM Sans"/>
                <a:sym typeface="DM Sans"/>
              </a:rPr>
              <a:t>lean and processed health data</a:t>
            </a:r>
          </a:p>
        </p:txBody>
      </p:sp>
      <p:grpSp>
        <p:nvGrpSpPr>
          <p:cNvPr name="Group 11" id="11"/>
          <p:cNvGrpSpPr/>
          <p:nvPr/>
        </p:nvGrpSpPr>
        <p:grpSpPr>
          <a:xfrm rot="0">
            <a:off x="5056760" y="3855973"/>
            <a:ext cx="4352047" cy="435204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6FC"/>
            </a:solidFill>
          </p:spPr>
        </p:sp>
        <p:sp>
          <p:nvSpPr>
            <p:cNvPr name="TextBox 13" id="13"/>
            <p:cNvSpPr txBox="true"/>
            <p:nvPr/>
          </p:nvSpPr>
          <p:spPr>
            <a:xfrm>
              <a:off x="76200" y="0"/>
              <a:ext cx="660400" cy="736600"/>
            </a:xfrm>
            <a:prstGeom prst="rect">
              <a:avLst/>
            </a:prstGeom>
          </p:spPr>
          <p:txBody>
            <a:bodyPr anchor="ctr" rtlCol="false" tIns="46156" lIns="46156" bIns="46156" rIns="46156"/>
            <a:lstStyle/>
            <a:p>
              <a:pPr algn="ctr">
                <a:lnSpc>
                  <a:spcPts val="2659"/>
                </a:lnSpc>
                <a:spcBef>
                  <a:spcPct val="0"/>
                </a:spcBef>
              </a:pPr>
            </a:p>
          </p:txBody>
        </p:sp>
      </p:grpSp>
      <p:grpSp>
        <p:nvGrpSpPr>
          <p:cNvPr name="Group 14" id="14"/>
          <p:cNvGrpSpPr/>
          <p:nvPr/>
        </p:nvGrpSpPr>
        <p:grpSpPr>
          <a:xfrm rot="0">
            <a:off x="5191609" y="3990822"/>
            <a:ext cx="4082349" cy="408234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DC1E6"/>
            </a:solidFill>
          </p:spPr>
        </p:sp>
        <p:sp>
          <p:nvSpPr>
            <p:cNvPr name="TextBox 16" id="16"/>
            <p:cNvSpPr txBox="true"/>
            <p:nvPr/>
          </p:nvSpPr>
          <p:spPr>
            <a:xfrm>
              <a:off x="76200" y="0"/>
              <a:ext cx="660400" cy="736600"/>
            </a:xfrm>
            <a:prstGeom prst="rect">
              <a:avLst/>
            </a:prstGeom>
          </p:spPr>
          <p:txBody>
            <a:bodyPr anchor="ctr" rtlCol="false" tIns="46156" lIns="46156" bIns="46156" rIns="46156"/>
            <a:lstStyle/>
            <a:p>
              <a:pPr algn="ctr">
                <a:lnSpc>
                  <a:spcPts val="2659"/>
                </a:lnSpc>
                <a:spcBef>
                  <a:spcPct val="0"/>
                </a:spcBef>
              </a:pPr>
            </a:p>
          </p:txBody>
        </p:sp>
      </p:grpSp>
      <p:sp>
        <p:nvSpPr>
          <p:cNvPr name="TextBox 17" id="17"/>
          <p:cNvSpPr txBox="true"/>
          <p:nvPr/>
        </p:nvSpPr>
        <p:spPr>
          <a:xfrm rot="0">
            <a:off x="5789980" y="4964725"/>
            <a:ext cx="2885608" cy="1197848"/>
          </a:xfrm>
          <a:prstGeom prst="rect">
            <a:avLst/>
          </a:prstGeom>
        </p:spPr>
        <p:txBody>
          <a:bodyPr anchor="t" rtlCol="false" tIns="0" lIns="0" bIns="0" rIns="0">
            <a:spAutoFit/>
          </a:bodyPr>
          <a:lstStyle/>
          <a:p>
            <a:pPr algn="l">
              <a:lnSpc>
                <a:spcPts val="4851"/>
              </a:lnSpc>
            </a:pPr>
            <a:r>
              <a:rPr lang="en-US" sz="3465">
                <a:solidFill>
                  <a:srgbClr val="202A61"/>
                </a:solidFill>
                <a:latin typeface="DM Sans"/>
                <a:ea typeface="DM Sans"/>
                <a:cs typeface="DM Sans"/>
                <a:sym typeface="DM Sans"/>
              </a:rPr>
              <a:t>H</a:t>
            </a:r>
            <a:r>
              <a:rPr lang="en-US" sz="3465">
                <a:solidFill>
                  <a:srgbClr val="202A61"/>
                </a:solidFill>
                <a:latin typeface="DM Sans"/>
                <a:ea typeface="DM Sans"/>
                <a:cs typeface="DM Sans"/>
                <a:sym typeface="DM Sans"/>
              </a:rPr>
              <a:t>ealth trends and patterns</a:t>
            </a:r>
          </a:p>
        </p:txBody>
      </p:sp>
      <p:grpSp>
        <p:nvGrpSpPr>
          <p:cNvPr name="Group 18" id="18"/>
          <p:cNvGrpSpPr/>
          <p:nvPr/>
        </p:nvGrpSpPr>
        <p:grpSpPr>
          <a:xfrm rot="0">
            <a:off x="8879193" y="3855973"/>
            <a:ext cx="4352047" cy="435204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6FC"/>
            </a:solidFill>
          </p:spPr>
        </p:sp>
        <p:sp>
          <p:nvSpPr>
            <p:cNvPr name="TextBox 20" id="20"/>
            <p:cNvSpPr txBox="true"/>
            <p:nvPr/>
          </p:nvSpPr>
          <p:spPr>
            <a:xfrm>
              <a:off x="76200" y="0"/>
              <a:ext cx="660400" cy="736600"/>
            </a:xfrm>
            <a:prstGeom prst="rect">
              <a:avLst/>
            </a:prstGeom>
          </p:spPr>
          <p:txBody>
            <a:bodyPr anchor="ctr" rtlCol="false" tIns="46156" lIns="46156" bIns="46156" rIns="46156"/>
            <a:lstStyle/>
            <a:p>
              <a:pPr algn="ctr">
                <a:lnSpc>
                  <a:spcPts val="2659"/>
                </a:lnSpc>
                <a:spcBef>
                  <a:spcPct val="0"/>
                </a:spcBef>
              </a:pPr>
            </a:p>
          </p:txBody>
        </p:sp>
      </p:grpSp>
      <p:grpSp>
        <p:nvGrpSpPr>
          <p:cNvPr name="Group 21" id="21"/>
          <p:cNvGrpSpPr/>
          <p:nvPr/>
        </p:nvGrpSpPr>
        <p:grpSpPr>
          <a:xfrm rot="0">
            <a:off x="9014041" y="3990822"/>
            <a:ext cx="4082349" cy="408234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DC1E6"/>
            </a:solidFill>
          </p:spPr>
        </p:sp>
        <p:sp>
          <p:nvSpPr>
            <p:cNvPr name="TextBox 23" id="23"/>
            <p:cNvSpPr txBox="true"/>
            <p:nvPr/>
          </p:nvSpPr>
          <p:spPr>
            <a:xfrm>
              <a:off x="76200" y="0"/>
              <a:ext cx="660400" cy="736600"/>
            </a:xfrm>
            <a:prstGeom prst="rect">
              <a:avLst/>
            </a:prstGeom>
          </p:spPr>
          <p:txBody>
            <a:bodyPr anchor="ctr" rtlCol="false" tIns="46156" lIns="46156" bIns="46156" rIns="46156"/>
            <a:lstStyle/>
            <a:p>
              <a:pPr algn="ctr">
                <a:lnSpc>
                  <a:spcPts val="2659"/>
                </a:lnSpc>
                <a:spcBef>
                  <a:spcPct val="0"/>
                </a:spcBef>
              </a:pPr>
            </a:p>
          </p:txBody>
        </p:sp>
      </p:grpSp>
      <p:sp>
        <p:nvSpPr>
          <p:cNvPr name="TextBox 24" id="24"/>
          <p:cNvSpPr txBox="true"/>
          <p:nvPr/>
        </p:nvSpPr>
        <p:spPr>
          <a:xfrm rot="0">
            <a:off x="9612412" y="4983775"/>
            <a:ext cx="2885608" cy="948928"/>
          </a:xfrm>
          <a:prstGeom prst="rect">
            <a:avLst/>
          </a:prstGeom>
        </p:spPr>
        <p:txBody>
          <a:bodyPr anchor="t" rtlCol="false" tIns="0" lIns="0" bIns="0" rIns="0">
            <a:spAutoFit/>
          </a:bodyPr>
          <a:lstStyle/>
          <a:p>
            <a:pPr algn="l">
              <a:lnSpc>
                <a:spcPts val="3871"/>
              </a:lnSpc>
            </a:pPr>
            <a:r>
              <a:rPr lang="en-US" sz="2765">
                <a:solidFill>
                  <a:srgbClr val="202A61"/>
                </a:solidFill>
                <a:latin typeface="DM Sans"/>
                <a:ea typeface="DM Sans"/>
                <a:cs typeface="DM Sans"/>
                <a:sym typeface="DM Sans"/>
              </a:rPr>
              <a:t>I</a:t>
            </a:r>
            <a:r>
              <a:rPr lang="en-US" sz="2765">
                <a:solidFill>
                  <a:srgbClr val="202A61"/>
                </a:solidFill>
                <a:latin typeface="DM Sans"/>
                <a:ea typeface="DM Sans"/>
                <a:cs typeface="DM Sans"/>
                <a:sym typeface="DM Sans"/>
              </a:rPr>
              <a:t>dentified risk factors</a:t>
            </a:r>
          </a:p>
        </p:txBody>
      </p:sp>
      <p:grpSp>
        <p:nvGrpSpPr>
          <p:cNvPr name="Group 25" id="25"/>
          <p:cNvGrpSpPr/>
          <p:nvPr/>
        </p:nvGrpSpPr>
        <p:grpSpPr>
          <a:xfrm rot="0">
            <a:off x="12701625" y="3855973"/>
            <a:ext cx="4352047" cy="4352047"/>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6FC"/>
            </a:solidFill>
          </p:spPr>
        </p:sp>
        <p:sp>
          <p:nvSpPr>
            <p:cNvPr name="TextBox 27" id="27"/>
            <p:cNvSpPr txBox="true"/>
            <p:nvPr/>
          </p:nvSpPr>
          <p:spPr>
            <a:xfrm>
              <a:off x="76200" y="0"/>
              <a:ext cx="660400" cy="736600"/>
            </a:xfrm>
            <a:prstGeom prst="rect">
              <a:avLst/>
            </a:prstGeom>
          </p:spPr>
          <p:txBody>
            <a:bodyPr anchor="ctr" rtlCol="false" tIns="46156" lIns="46156" bIns="46156" rIns="46156"/>
            <a:lstStyle/>
            <a:p>
              <a:pPr algn="ctr">
                <a:lnSpc>
                  <a:spcPts val="2659"/>
                </a:lnSpc>
                <a:spcBef>
                  <a:spcPct val="0"/>
                </a:spcBef>
              </a:pPr>
            </a:p>
          </p:txBody>
        </p:sp>
      </p:grpSp>
      <p:grpSp>
        <p:nvGrpSpPr>
          <p:cNvPr name="Group 28" id="28"/>
          <p:cNvGrpSpPr/>
          <p:nvPr/>
        </p:nvGrpSpPr>
        <p:grpSpPr>
          <a:xfrm rot="0">
            <a:off x="12836474" y="3990822"/>
            <a:ext cx="4082349" cy="4082349"/>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DC1E6"/>
            </a:solidFill>
          </p:spPr>
        </p:sp>
        <p:sp>
          <p:nvSpPr>
            <p:cNvPr name="TextBox 30" id="30"/>
            <p:cNvSpPr txBox="true"/>
            <p:nvPr/>
          </p:nvSpPr>
          <p:spPr>
            <a:xfrm>
              <a:off x="76200" y="0"/>
              <a:ext cx="660400" cy="736600"/>
            </a:xfrm>
            <a:prstGeom prst="rect">
              <a:avLst/>
            </a:prstGeom>
          </p:spPr>
          <p:txBody>
            <a:bodyPr anchor="ctr" rtlCol="false" tIns="46156" lIns="46156" bIns="46156" rIns="46156"/>
            <a:lstStyle/>
            <a:p>
              <a:pPr algn="ctr">
                <a:lnSpc>
                  <a:spcPts val="2659"/>
                </a:lnSpc>
                <a:spcBef>
                  <a:spcPct val="0"/>
                </a:spcBef>
              </a:pPr>
            </a:p>
          </p:txBody>
        </p:sp>
      </p:grpSp>
      <p:sp>
        <p:nvSpPr>
          <p:cNvPr name="TextBox 31" id="31"/>
          <p:cNvSpPr txBox="true"/>
          <p:nvPr/>
        </p:nvSpPr>
        <p:spPr>
          <a:xfrm rot="0">
            <a:off x="13434845" y="4974250"/>
            <a:ext cx="2885608" cy="1553448"/>
          </a:xfrm>
          <a:prstGeom prst="rect">
            <a:avLst/>
          </a:prstGeom>
        </p:spPr>
        <p:txBody>
          <a:bodyPr anchor="t" rtlCol="false" tIns="0" lIns="0" bIns="0" rIns="0">
            <a:spAutoFit/>
          </a:bodyPr>
          <a:lstStyle/>
          <a:p>
            <a:pPr algn="l">
              <a:lnSpc>
                <a:spcPts val="4151"/>
              </a:lnSpc>
            </a:pPr>
            <a:r>
              <a:rPr lang="en-US" sz="2965">
                <a:solidFill>
                  <a:srgbClr val="202A61"/>
                </a:solidFill>
                <a:latin typeface="DM Sans"/>
                <a:ea typeface="DM Sans"/>
                <a:cs typeface="DM Sans"/>
                <a:sym typeface="DM Sans"/>
              </a:rPr>
              <a:t>I</a:t>
            </a:r>
            <a:r>
              <a:rPr lang="en-US" sz="2965">
                <a:solidFill>
                  <a:srgbClr val="202A61"/>
                </a:solidFill>
                <a:latin typeface="DM Sans"/>
                <a:ea typeface="DM Sans"/>
                <a:cs typeface="DM Sans"/>
                <a:sym typeface="DM Sans"/>
              </a:rPr>
              <a:t>nteractive visualization dashboard</a:t>
            </a:r>
          </a:p>
        </p:txBody>
      </p:sp>
      <p:grpSp>
        <p:nvGrpSpPr>
          <p:cNvPr name="Group 32" id="32"/>
          <p:cNvGrpSpPr/>
          <p:nvPr/>
        </p:nvGrpSpPr>
        <p:grpSpPr>
          <a:xfrm rot="0">
            <a:off x="3670281" y="7292018"/>
            <a:ext cx="1182874" cy="1182874"/>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24089"/>
            </a:solidFill>
          </p:spPr>
        </p:sp>
        <p:sp>
          <p:nvSpPr>
            <p:cNvPr name="TextBox 34" id="34"/>
            <p:cNvSpPr txBox="true"/>
            <p:nvPr/>
          </p:nvSpPr>
          <p:spPr>
            <a:xfrm>
              <a:off x="76200" y="0"/>
              <a:ext cx="660400" cy="736600"/>
            </a:xfrm>
            <a:prstGeom prst="rect">
              <a:avLst/>
            </a:prstGeom>
          </p:spPr>
          <p:txBody>
            <a:bodyPr anchor="ctr" rtlCol="false" tIns="49342" lIns="49342" bIns="49342" rIns="49342"/>
            <a:lstStyle/>
            <a:p>
              <a:pPr algn="ctr">
                <a:lnSpc>
                  <a:spcPts val="2659"/>
                </a:lnSpc>
                <a:spcBef>
                  <a:spcPct val="0"/>
                </a:spcBef>
              </a:pPr>
            </a:p>
          </p:txBody>
        </p:sp>
      </p:grpSp>
      <p:sp>
        <p:nvSpPr>
          <p:cNvPr name="TextBox 35" id="35"/>
          <p:cNvSpPr txBox="true"/>
          <p:nvPr/>
        </p:nvSpPr>
        <p:spPr>
          <a:xfrm rot="0">
            <a:off x="3773837" y="7609703"/>
            <a:ext cx="975763" cy="652279"/>
          </a:xfrm>
          <a:prstGeom prst="rect">
            <a:avLst/>
          </a:prstGeom>
        </p:spPr>
        <p:txBody>
          <a:bodyPr anchor="t" rtlCol="false" tIns="0" lIns="0" bIns="0" rIns="0">
            <a:spAutoFit/>
          </a:bodyPr>
          <a:lstStyle/>
          <a:p>
            <a:pPr algn="ctr">
              <a:lnSpc>
                <a:spcPts val="4723"/>
              </a:lnSpc>
            </a:pPr>
            <a:r>
              <a:rPr lang="en-US" sz="4972" b="true">
                <a:solidFill>
                  <a:srgbClr val="EFF6FC"/>
                </a:solidFill>
                <a:latin typeface="Frasa Display Bold"/>
                <a:ea typeface="Frasa Display Bold"/>
                <a:cs typeface="Frasa Display Bold"/>
                <a:sym typeface="Frasa Display Bold"/>
              </a:rPr>
              <a:t>01</a:t>
            </a:r>
          </a:p>
        </p:txBody>
      </p:sp>
      <p:grpSp>
        <p:nvGrpSpPr>
          <p:cNvPr name="Group 36" id="36"/>
          <p:cNvGrpSpPr/>
          <p:nvPr/>
        </p:nvGrpSpPr>
        <p:grpSpPr>
          <a:xfrm rot="0">
            <a:off x="7696319" y="7292018"/>
            <a:ext cx="1182874" cy="1182874"/>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24089"/>
            </a:solidFill>
          </p:spPr>
        </p:sp>
        <p:sp>
          <p:nvSpPr>
            <p:cNvPr name="TextBox 38" id="38"/>
            <p:cNvSpPr txBox="true"/>
            <p:nvPr/>
          </p:nvSpPr>
          <p:spPr>
            <a:xfrm>
              <a:off x="76200" y="0"/>
              <a:ext cx="660400" cy="736600"/>
            </a:xfrm>
            <a:prstGeom prst="rect">
              <a:avLst/>
            </a:prstGeom>
          </p:spPr>
          <p:txBody>
            <a:bodyPr anchor="ctr" rtlCol="false" tIns="49342" lIns="49342" bIns="49342" rIns="49342"/>
            <a:lstStyle/>
            <a:p>
              <a:pPr algn="ctr">
                <a:lnSpc>
                  <a:spcPts val="2659"/>
                </a:lnSpc>
                <a:spcBef>
                  <a:spcPct val="0"/>
                </a:spcBef>
              </a:pPr>
            </a:p>
          </p:txBody>
        </p:sp>
      </p:grpSp>
      <p:sp>
        <p:nvSpPr>
          <p:cNvPr name="TextBox 39" id="39"/>
          <p:cNvSpPr txBox="true"/>
          <p:nvPr/>
        </p:nvSpPr>
        <p:spPr>
          <a:xfrm rot="0">
            <a:off x="7799874" y="7609703"/>
            <a:ext cx="975763" cy="652279"/>
          </a:xfrm>
          <a:prstGeom prst="rect">
            <a:avLst/>
          </a:prstGeom>
        </p:spPr>
        <p:txBody>
          <a:bodyPr anchor="t" rtlCol="false" tIns="0" lIns="0" bIns="0" rIns="0">
            <a:spAutoFit/>
          </a:bodyPr>
          <a:lstStyle/>
          <a:p>
            <a:pPr algn="ctr">
              <a:lnSpc>
                <a:spcPts val="4723"/>
              </a:lnSpc>
            </a:pPr>
            <a:r>
              <a:rPr lang="en-US" b="true" sz="4972">
                <a:solidFill>
                  <a:srgbClr val="EFF6FC"/>
                </a:solidFill>
                <a:latin typeface="Frasa Display Bold"/>
                <a:ea typeface="Frasa Display Bold"/>
                <a:cs typeface="Frasa Display Bold"/>
                <a:sym typeface="Frasa Display Bold"/>
              </a:rPr>
              <a:t>02</a:t>
            </a:r>
          </a:p>
        </p:txBody>
      </p:sp>
      <p:grpSp>
        <p:nvGrpSpPr>
          <p:cNvPr name="Group 40" id="40"/>
          <p:cNvGrpSpPr/>
          <p:nvPr/>
        </p:nvGrpSpPr>
        <p:grpSpPr>
          <a:xfrm rot="0">
            <a:off x="11722356" y="7292018"/>
            <a:ext cx="1182874" cy="1182874"/>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24089"/>
            </a:solidFill>
          </p:spPr>
        </p:sp>
        <p:sp>
          <p:nvSpPr>
            <p:cNvPr name="TextBox 42" id="42"/>
            <p:cNvSpPr txBox="true"/>
            <p:nvPr/>
          </p:nvSpPr>
          <p:spPr>
            <a:xfrm>
              <a:off x="76200" y="0"/>
              <a:ext cx="660400" cy="736600"/>
            </a:xfrm>
            <a:prstGeom prst="rect">
              <a:avLst/>
            </a:prstGeom>
          </p:spPr>
          <p:txBody>
            <a:bodyPr anchor="ctr" rtlCol="false" tIns="49342" lIns="49342" bIns="49342" rIns="49342"/>
            <a:lstStyle/>
            <a:p>
              <a:pPr algn="ctr">
                <a:lnSpc>
                  <a:spcPts val="2659"/>
                </a:lnSpc>
                <a:spcBef>
                  <a:spcPct val="0"/>
                </a:spcBef>
              </a:pPr>
            </a:p>
          </p:txBody>
        </p:sp>
      </p:grpSp>
      <p:sp>
        <p:nvSpPr>
          <p:cNvPr name="TextBox 43" id="43"/>
          <p:cNvSpPr txBox="true"/>
          <p:nvPr/>
        </p:nvSpPr>
        <p:spPr>
          <a:xfrm rot="0">
            <a:off x="11825912" y="7609703"/>
            <a:ext cx="975763" cy="652279"/>
          </a:xfrm>
          <a:prstGeom prst="rect">
            <a:avLst/>
          </a:prstGeom>
        </p:spPr>
        <p:txBody>
          <a:bodyPr anchor="t" rtlCol="false" tIns="0" lIns="0" bIns="0" rIns="0">
            <a:spAutoFit/>
          </a:bodyPr>
          <a:lstStyle/>
          <a:p>
            <a:pPr algn="ctr">
              <a:lnSpc>
                <a:spcPts val="4723"/>
              </a:lnSpc>
            </a:pPr>
            <a:r>
              <a:rPr lang="en-US" sz="4972" b="true">
                <a:solidFill>
                  <a:srgbClr val="EFF6FC"/>
                </a:solidFill>
                <a:latin typeface="Frasa Display Bold"/>
                <a:ea typeface="Frasa Display Bold"/>
                <a:cs typeface="Frasa Display Bold"/>
                <a:sym typeface="Frasa Display Bold"/>
              </a:rPr>
              <a:t>03</a:t>
            </a:r>
          </a:p>
        </p:txBody>
      </p:sp>
      <p:grpSp>
        <p:nvGrpSpPr>
          <p:cNvPr name="Group 44" id="44"/>
          <p:cNvGrpSpPr/>
          <p:nvPr/>
        </p:nvGrpSpPr>
        <p:grpSpPr>
          <a:xfrm rot="0">
            <a:off x="15748394" y="7292018"/>
            <a:ext cx="1182874" cy="1182874"/>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24089"/>
            </a:solidFill>
          </p:spPr>
        </p:sp>
        <p:sp>
          <p:nvSpPr>
            <p:cNvPr name="TextBox 46" id="46"/>
            <p:cNvSpPr txBox="true"/>
            <p:nvPr/>
          </p:nvSpPr>
          <p:spPr>
            <a:xfrm>
              <a:off x="76200" y="0"/>
              <a:ext cx="660400" cy="736600"/>
            </a:xfrm>
            <a:prstGeom prst="rect">
              <a:avLst/>
            </a:prstGeom>
          </p:spPr>
          <p:txBody>
            <a:bodyPr anchor="ctr" rtlCol="false" tIns="49342" lIns="49342" bIns="49342" rIns="49342"/>
            <a:lstStyle/>
            <a:p>
              <a:pPr algn="ctr">
                <a:lnSpc>
                  <a:spcPts val="2659"/>
                </a:lnSpc>
                <a:spcBef>
                  <a:spcPct val="0"/>
                </a:spcBef>
              </a:pPr>
            </a:p>
          </p:txBody>
        </p:sp>
      </p:grpSp>
      <p:sp>
        <p:nvSpPr>
          <p:cNvPr name="TextBox 47" id="47"/>
          <p:cNvSpPr txBox="true"/>
          <p:nvPr/>
        </p:nvSpPr>
        <p:spPr>
          <a:xfrm rot="0">
            <a:off x="15851949" y="7609703"/>
            <a:ext cx="975763" cy="652279"/>
          </a:xfrm>
          <a:prstGeom prst="rect">
            <a:avLst/>
          </a:prstGeom>
        </p:spPr>
        <p:txBody>
          <a:bodyPr anchor="t" rtlCol="false" tIns="0" lIns="0" bIns="0" rIns="0">
            <a:spAutoFit/>
          </a:bodyPr>
          <a:lstStyle/>
          <a:p>
            <a:pPr algn="ctr">
              <a:lnSpc>
                <a:spcPts val="4723"/>
              </a:lnSpc>
            </a:pPr>
            <a:r>
              <a:rPr lang="en-US" sz="4972" b="true">
                <a:solidFill>
                  <a:srgbClr val="EFF6FC"/>
                </a:solidFill>
                <a:latin typeface="Frasa Display Bold"/>
                <a:ea typeface="Frasa Display Bold"/>
                <a:cs typeface="Frasa Display Bold"/>
                <a:sym typeface="Frasa Display Bold"/>
              </a:rPr>
              <a:t>04</a:t>
            </a:r>
          </a:p>
        </p:txBody>
      </p:sp>
      <p:sp>
        <p:nvSpPr>
          <p:cNvPr name="AutoShape 48" id="48"/>
          <p:cNvSpPr/>
          <p:nvPr/>
        </p:nvSpPr>
        <p:spPr>
          <a:xfrm>
            <a:off x="5261850" y="1028700"/>
            <a:ext cx="11997450" cy="0"/>
          </a:xfrm>
          <a:prstGeom prst="line">
            <a:avLst/>
          </a:prstGeom>
          <a:ln cap="flat" w="9525">
            <a:solidFill>
              <a:srgbClr val="202A61"/>
            </a:solidFill>
            <a:prstDash val="solid"/>
            <a:headEnd type="none" len="sm" w="sm"/>
            <a:tailEnd type="none" len="sm" w="sm"/>
          </a:ln>
        </p:spPr>
      </p:sp>
      <p:sp>
        <p:nvSpPr>
          <p:cNvPr name="Freeform 49" id="49"/>
          <p:cNvSpPr/>
          <p:nvPr/>
        </p:nvSpPr>
        <p:spPr>
          <a:xfrm flipH="false" flipV="false" rot="0">
            <a:off x="488348" y="7632019"/>
            <a:ext cx="743648" cy="1813775"/>
          </a:xfrm>
          <a:custGeom>
            <a:avLst/>
            <a:gdLst/>
            <a:ahLst/>
            <a:cxnLst/>
            <a:rect r="r" b="b" t="t" l="l"/>
            <a:pathLst>
              <a:path h="1813775" w="743648">
                <a:moveTo>
                  <a:pt x="0" y="0"/>
                </a:moveTo>
                <a:lnTo>
                  <a:pt x="743648" y="0"/>
                </a:lnTo>
                <a:lnTo>
                  <a:pt x="743648" y="1813776"/>
                </a:lnTo>
                <a:lnTo>
                  <a:pt x="0" y="18137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0" id="50"/>
          <p:cNvSpPr/>
          <p:nvPr/>
        </p:nvSpPr>
        <p:spPr>
          <a:xfrm flipH="true" flipV="false" rot="0">
            <a:off x="841603" y="8917382"/>
            <a:ext cx="1873462" cy="1873462"/>
          </a:xfrm>
          <a:custGeom>
            <a:avLst/>
            <a:gdLst/>
            <a:ahLst/>
            <a:cxnLst/>
            <a:rect r="r" b="b" t="t" l="l"/>
            <a:pathLst>
              <a:path h="1873462" w="1873462">
                <a:moveTo>
                  <a:pt x="1873462" y="0"/>
                </a:moveTo>
                <a:lnTo>
                  <a:pt x="0" y="0"/>
                </a:lnTo>
                <a:lnTo>
                  <a:pt x="0" y="1873461"/>
                </a:lnTo>
                <a:lnTo>
                  <a:pt x="1873462" y="1873461"/>
                </a:lnTo>
                <a:lnTo>
                  <a:pt x="187346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F6FC"/>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6991273" y="791611"/>
            <a:ext cx="743648" cy="1813775"/>
          </a:xfrm>
          <a:custGeom>
            <a:avLst/>
            <a:gdLst/>
            <a:ahLst/>
            <a:cxnLst/>
            <a:rect r="r" b="b" t="t" l="l"/>
            <a:pathLst>
              <a:path h="1813775" w="743648">
                <a:moveTo>
                  <a:pt x="0" y="0"/>
                </a:moveTo>
                <a:lnTo>
                  <a:pt x="743648" y="0"/>
                </a:lnTo>
                <a:lnTo>
                  <a:pt x="743648" y="1813775"/>
                </a:lnTo>
                <a:lnTo>
                  <a:pt x="0" y="18137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800000">
            <a:off x="15508204" y="-553438"/>
            <a:ext cx="1873462" cy="1873462"/>
          </a:xfrm>
          <a:custGeom>
            <a:avLst/>
            <a:gdLst/>
            <a:ahLst/>
            <a:cxnLst/>
            <a:rect r="r" b="b" t="t" l="l"/>
            <a:pathLst>
              <a:path h="1873462" w="1873462">
                <a:moveTo>
                  <a:pt x="1873462" y="0"/>
                </a:moveTo>
                <a:lnTo>
                  <a:pt x="0" y="0"/>
                </a:lnTo>
                <a:lnTo>
                  <a:pt x="0" y="1873462"/>
                </a:lnTo>
                <a:lnTo>
                  <a:pt x="1873462" y="1873462"/>
                </a:lnTo>
                <a:lnTo>
                  <a:pt x="1873462"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688521" y="2232778"/>
            <a:ext cx="13904379" cy="5836385"/>
            <a:chOff x="0" y="0"/>
            <a:chExt cx="3795501" cy="1593167"/>
          </a:xfrm>
        </p:grpSpPr>
        <p:sp>
          <p:nvSpPr>
            <p:cNvPr name="Freeform 5" id="5"/>
            <p:cNvSpPr/>
            <p:nvPr/>
          </p:nvSpPr>
          <p:spPr>
            <a:xfrm flipH="false" flipV="false" rot="0">
              <a:off x="0" y="0"/>
              <a:ext cx="3795500" cy="1593167"/>
            </a:xfrm>
            <a:custGeom>
              <a:avLst/>
              <a:gdLst/>
              <a:ahLst/>
              <a:cxnLst/>
              <a:rect r="r" b="b" t="t" l="l"/>
              <a:pathLst>
                <a:path h="1593167" w="3795500">
                  <a:moveTo>
                    <a:pt x="18374" y="0"/>
                  </a:moveTo>
                  <a:lnTo>
                    <a:pt x="3777126" y="0"/>
                  </a:lnTo>
                  <a:cubicBezTo>
                    <a:pt x="3781999" y="0"/>
                    <a:pt x="3786673" y="1936"/>
                    <a:pt x="3790119" y="5382"/>
                  </a:cubicBezTo>
                  <a:cubicBezTo>
                    <a:pt x="3793565" y="8828"/>
                    <a:pt x="3795500" y="13501"/>
                    <a:pt x="3795500" y="18374"/>
                  </a:cubicBezTo>
                  <a:lnTo>
                    <a:pt x="3795500" y="1574793"/>
                  </a:lnTo>
                  <a:cubicBezTo>
                    <a:pt x="3795500" y="1579666"/>
                    <a:pt x="3793565" y="1584340"/>
                    <a:pt x="3790119" y="1587786"/>
                  </a:cubicBezTo>
                  <a:cubicBezTo>
                    <a:pt x="3786673" y="1591231"/>
                    <a:pt x="3781999" y="1593167"/>
                    <a:pt x="3777126" y="1593167"/>
                  </a:cubicBezTo>
                  <a:lnTo>
                    <a:pt x="18374" y="1593167"/>
                  </a:lnTo>
                  <a:cubicBezTo>
                    <a:pt x="13501" y="1593167"/>
                    <a:pt x="8828" y="1591231"/>
                    <a:pt x="5382" y="1587786"/>
                  </a:cubicBezTo>
                  <a:cubicBezTo>
                    <a:pt x="1936" y="1584340"/>
                    <a:pt x="0" y="1579666"/>
                    <a:pt x="0" y="1574793"/>
                  </a:cubicBezTo>
                  <a:lnTo>
                    <a:pt x="0" y="18374"/>
                  </a:lnTo>
                  <a:cubicBezTo>
                    <a:pt x="0" y="13501"/>
                    <a:pt x="1936" y="8828"/>
                    <a:pt x="5382" y="5382"/>
                  </a:cubicBezTo>
                  <a:cubicBezTo>
                    <a:pt x="8828" y="1936"/>
                    <a:pt x="13501" y="0"/>
                    <a:pt x="18374" y="0"/>
                  </a:cubicBezTo>
                  <a:close/>
                </a:path>
              </a:pathLst>
            </a:custGeom>
            <a:solidFill>
              <a:srgbClr val="9DC1E6"/>
            </a:solidFill>
          </p:spPr>
        </p:sp>
        <p:sp>
          <p:nvSpPr>
            <p:cNvPr name="TextBox 6" id="6"/>
            <p:cNvSpPr txBox="true"/>
            <p:nvPr/>
          </p:nvSpPr>
          <p:spPr>
            <a:xfrm>
              <a:off x="0" y="-76200"/>
              <a:ext cx="3795501" cy="1669367"/>
            </a:xfrm>
            <a:prstGeom prst="rect">
              <a:avLst/>
            </a:prstGeom>
          </p:spPr>
          <p:txBody>
            <a:bodyPr anchor="ctr" rtlCol="false" tIns="49014" lIns="49014" bIns="49014" rIns="49014"/>
            <a:lstStyle/>
            <a:p>
              <a:pPr algn="ctr">
                <a:lnSpc>
                  <a:spcPts val="2659"/>
                </a:lnSpc>
              </a:pPr>
            </a:p>
          </p:txBody>
        </p:sp>
      </p:grpSp>
      <p:sp>
        <p:nvSpPr>
          <p:cNvPr name="TextBox 7" id="7"/>
          <p:cNvSpPr txBox="true"/>
          <p:nvPr/>
        </p:nvSpPr>
        <p:spPr>
          <a:xfrm rot="0">
            <a:off x="1028700" y="772989"/>
            <a:ext cx="8985467" cy="463796"/>
          </a:xfrm>
          <a:prstGeom prst="rect">
            <a:avLst/>
          </a:prstGeom>
        </p:spPr>
        <p:txBody>
          <a:bodyPr anchor="t" rtlCol="false" tIns="0" lIns="0" bIns="0" rIns="0">
            <a:spAutoFit/>
          </a:bodyPr>
          <a:lstStyle/>
          <a:p>
            <a:pPr algn="l">
              <a:lnSpc>
                <a:spcPts val="3836"/>
              </a:lnSpc>
            </a:pPr>
            <a:r>
              <a:rPr lang="en-US" sz="2740">
                <a:solidFill>
                  <a:srgbClr val="202A61"/>
                </a:solidFill>
                <a:latin typeface="DM Sans"/>
                <a:ea typeface="DM Sans"/>
                <a:cs typeface="DM Sans"/>
                <a:sym typeface="DM Sans"/>
              </a:rPr>
              <a:t>Project </a:t>
            </a:r>
            <a:r>
              <a:rPr lang="en-US" sz="2740">
                <a:solidFill>
                  <a:srgbClr val="202A61"/>
                </a:solidFill>
                <a:latin typeface="DM Sans"/>
                <a:ea typeface="DM Sans"/>
                <a:cs typeface="DM Sans"/>
                <a:sym typeface="DM Sans"/>
              </a:rPr>
              <a:t>Presentation I 09</a:t>
            </a:r>
          </a:p>
        </p:txBody>
      </p:sp>
      <p:sp>
        <p:nvSpPr>
          <p:cNvPr name="TextBox 8" id="8"/>
          <p:cNvSpPr txBox="true"/>
          <p:nvPr/>
        </p:nvSpPr>
        <p:spPr>
          <a:xfrm rot="0">
            <a:off x="2695099" y="2417862"/>
            <a:ext cx="6773885" cy="1110662"/>
          </a:xfrm>
          <a:prstGeom prst="rect">
            <a:avLst/>
          </a:prstGeom>
        </p:spPr>
        <p:txBody>
          <a:bodyPr anchor="t" rtlCol="false" tIns="0" lIns="0" bIns="0" rIns="0">
            <a:spAutoFit/>
          </a:bodyPr>
          <a:lstStyle/>
          <a:p>
            <a:pPr algn="l">
              <a:lnSpc>
                <a:spcPts val="8200"/>
              </a:lnSpc>
            </a:pPr>
            <a:r>
              <a:rPr lang="en-US" sz="8632" b="true">
                <a:solidFill>
                  <a:srgbClr val="202A61"/>
                </a:solidFill>
                <a:latin typeface="Frasa Display Bold"/>
                <a:ea typeface="Frasa Display Bold"/>
                <a:cs typeface="Frasa Display Bold"/>
                <a:sym typeface="Frasa Display Bold"/>
              </a:rPr>
              <a:t>C</a:t>
            </a:r>
            <a:r>
              <a:rPr lang="en-US" sz="8632" b="true">
                <a:solidFill>
                  <a:srgbClr val="202A61"/>
                </a:solidFill>
                <a:latin typeface="Frasa Display Bold"/>
                <a:ea typeface="Frasa Display Bold"/>
                <a:cs typeface="Frasa Display Bold"/>
                <a:sym typeface="Frasa Display Bold"/>
              </a:rPr>
              <a:t>onclusion</a:t>
            </a:r>
          </a:p>
        </p:txBody>
      </p:sp>
      <p:sp>
        <p:nvSpPr>
          <p:cNvPr name="TextBox 9" id="9"/>
          <p:cNvSpPr txBox="true"/>
          <p:nvPr/>
        </p:nvSpPr>
        <p:spPr>
          <a:xfrm rot="0">
            <a:off x="2695099" y="4047423"/>
            <a:ext cx="12216404" cy="2828744"/>
          </a:xfrm>
          <a:prstGeom prst="rect">
            <a:avLst/>
          </a:prstGeom>
        </p:spPr>
        <p:txBody>
          <a:bodyPr anchor="t" rtlCol="false" tIns="0" lIns="0" bIns="0" rIns="0">
            <a:spAutoFit/>
          </a:bodyPr>
          <a:lstStyle/>
          <a:p>
            <a:pPr algn="l" marL="695404" indent="-347702" lvl="1">
              <a:lnSpc>
                <a:spcPts val="4509"/>
              </a:lnSpc>
              <a:buFont typeface="Arial"/>
              <a:buChar char="•"/>
            </a:pPr>
            <a:r>
              <a:rPr lang="en-US" sz="3220">
                <a:solidFill>
                  <a:srgbClr val="202A61"/>
                </a:solidFill>
                <a:latin typeface="DM Sans"/>
                <a:ea typeface="DM Sans"/>
                <a:cs typeface="DM Sans"/>
                <a:sym typeface="DM Sans"/>
              </a:rPr>
              <a:t>H</a:t>
            </a:r>
            <a:r>
              <a:rPr lang="en-US" sz="3220">
                <a:solidFill>
                  <a:srgbClr val="202A61"/>
                </a:solidFill>
                <a:latin typeface="DM Sans"/>
                <a:ea typeface="DM Sans"/>
                <a:cs typeface="DM Sans"/>
                <a:sym typeface="DM Sans"/>
              </a:rPr>
              <a:t>ealthScope simplifies public health data analysis.</a:t>
            </a:r>
          </a:p>
          <a:p>
            <a:pPr algn="l" marL="695404" indent="-347702" lvl="1">
              <a:lnSpc>
                <a:spcPts val="4509"/>
              </a:lnSpc>
              <a:buFont typeface="Arial"/>
              <a:buChar char="•"/>
            </a:pPr>
            <a:r>
              <a:rPr lang="en-US" sz="3220">
                <a:solidFill>
                  <a:srgbClr val="202A61"/>
                </a:solidFill>
                <a:latin typeface="DM Sans"/>
                <a:ea typeface="DM Sans"/>
                <a:cs typeface="DM Sans"/>
                <a:sym typeface="DM Sans"/>
              </a:rPr>
              <a:t>Combines Data Science + ML + Visualization.</a:t>
            </a:r>
          </a:p>
          <a:p>
            <a:pPr algn="l" marL="695404" indent="-347702" lvl="1">
              <a:lnSpc>
                <a:spcPts val="4509"/>
              </a:lnSpc>
              <a:buFont typeface="Arial"/>
              <a:buChar char="•"/>
            </a:pPr>
            <a:r>
              <a:rPr lang="en-US" sz="3220">
                <a:solidFill>
                  <a:srgbClr val="202A61"/>
                </a:solidFill>
                <a:latin typeface="DM Sans"/>
                <a:ea typeface="DM Sans"/>
                <a:cs typeface="DM Sans"/>
                <a:sym typeface="DM Sans"/>
              </a:rPr>
              <a:t>Provides meaningful population-level insights.</a:t>
            </a:r>
          </a:p>
          <a:p>
            <a:pPr algn="l" marL="695404" indent="-347702" lvl="1">
              <a:lnSpc>
                <a:spcPts val="4509"/>
              </a:lnSpc>
              <a:buFont typeface="Arial"/>
              <a:buChar char="•"/>
            </a:pPr>
            <a:r>
              <a:rPr lang="en-US" sz="3220">
                <a:solidFill>
                  <a:srgbClr val="202A61"/>
                </a:solidFill>
                <a:latin typeface="DM Sans"/>
                <a:ea typeface="DM Sans"/>
                <a:cs typeface="DM Sans"/>
                <a:sym typeface="DM Sans"/>
              </a:rPr>
              <a:t>Supports awareness and preventive planning.</a:t>
            </a:r>
          </a:p>
          <a:p>
            <a:pPr algn="l">
              <a:lnSpc>
                <a:spcPts val="4509"/>
              </a:lnSpc>
            </a:pPr>
          </a:p>
        </p:txBody>
      </p:sp>
      <p:sp>
        <p:nvSpPr>
          <p:cNvPr name="AutoShape 10" id="10"/>
          <p:cNvSpPr/>
          <p:nvPr/>
        </p:nvSpPr>
        <p:spPr>
          <a:xfrm>
            <a:off x="5261850" y="1028700"/>
            <a:ext cx="9494324" cy="0"/>
          </a:xfrm>
          <a:prstGeom prst="line">
            <a:avLst/>
          </a:prstGeom>
          <a:ln cap="flat" w="9525">
            <a:solidFill>
              <a:srgbClr val="202A61"/>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F6FC"/>
        </a:solidFill>
      </p:bgPr>
    </p:bg>
    <p:spTree>
      <p:nvGrpSpPr>
        <p:cNvPr id="1" name=""/>
        <p:cNvGrpSpPr/>
        <p:nvPr/>
      </p:nvGrpSpPr>
      <p:grpSpPr>
        <a:xfrm>
          <a:off x="0" y="0"/>
          <a:ext cx="0" cy="0"/>
          <a:chOff x="0" y="0"/>
          <a:chExt cx="0" cy="0"/>
        </a:xfrm>
      </p:grpSpPr>
      <p:sp>
        <p:nvSpPr>
          <p:cNvPr name="Freeform 2" id="2"/>
          <p:cNvSpPr/>
          <p:nvPr/>
        </p:nvSpPr>
        <p:spPr>
          <a:xfrm flipH="false" flipV="false" rot="0">
            <a:off x="-453451" y="7620370"/>
            <a:ext cx="3108330" cy="3108330"/>
          </a:xfrm>
          <a:custGeom>
            <a:avLst/>
            <a:gdLst/>
            <a:ahLst/>
            <a:cxnLst/>
            <a:rect r="r" b="b" t="t" l="l"/>
            <a:pathLst>
              <a:path h="3108330" w="3108330">
                <a:moveTo>
                  <a:pt x="0" y="0"/>
                </a:moveTo>
                <a:lnTo>
                  <a:pt x="3108330" y="0"/>
                </a:lnTo>
                <a:lnTo>
                  <a:pt x="3108330" y="3108329"/>
                </a:lnTo>
                <a:lnTo>
                  <a:pt x="0" y="31083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2788797" y="8327870"/>
            <a:ext cx="2191011" cy="2191011"/>
          </a:xfrm>
          <a:custGeom>
            <a:avLst/>
            <a:gdLst/>
            <a:ahLst/>
            <a:cxnLst/>
            <a:rect r="r" b="b" t="t" l="l"/>
            <a:pathLst>
              <a:path h="2191011" w="2191011">
                <a:moveTo>
                  <a:pt x="2191011" y="0"/>
                </a:moveTo>
                <a:lnTo>
                  <a:pt x="0" y="0"/>
                </a:lnTo>
                <a:lnTo>
                  <a:pt x="0" y="2191011"/>
                </a:lnTo>
                <a:lnTo>
                  <a:pt x="2191011" y="2191011"/>
                </a:lnTo>
                <a:lnTo>
                  <a:pt x="219101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353949" y="6801143"/>
            <a:ext cx="869695" cy="2121208"/>
          </a:xfrm>
          <a:custGeom>
            <a:avLst/>
            <a:gdLst/>
            <a:ahLst/>
            <a:cxnLst/>
            <a:rect r="r" b="b" t="t" l="l"/>
            <a:pathLst>
              <a:path h="2121208" w="869695">
                <a:moveTo>
                  <a:pt x="0" y="0"/>
                </a:moveTo>
                <a:lnTo>
                  <a:pt x="869695" y="0"/>
                </a:lnTo>
                <a:lnTo>
                  <a:pt x="869695" y="2121208"/>
                </a:lnTo>
                <a:lnTo>
                  <a:pt x="0" y="21212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800000">
            <a:off x="16896724" y="962623"/>
            <a:ext cx="838197" cy="2044382"/>
          </a:xfrm>
          <a:custGeom>
            <a:avLst/>
            <a:gdLst/>
            <a:ahLst/>
            <a:cxnLst/>
            <a:rect r="r" b="b" t="t" l="l"/>
            <a:pathLst>
              <a:path h="2044382" w="838197">
                <a:moveTo>
                  <a:pt x="0" y="0"/>
                </a:moveTo>
                <a:lnTo>
                  <a:pt x="838197" y="0"/>
                </a:lnTo>
                <a:lnTo>
                  <a:pt x="838197" y="2044382"/>
                </a:lnTo>
                <a:lnTo>
                  <a:pt x="0" y="20443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590398" y="4084303"/>
            <a:ext cx="11107204" cy="1880552"/>
          </a:xfrm>
          <a:prstGeom prst="rect">
            <a:avLst/>
          </a:prstGeom>
        </p:spPr>
        <p:txBody>
          <a:bodyPr anchor="t" rtlCol="false" tIns="0" lIns="0" bIns="0" rIns="0">
            <a:spAutoFit/>
          </a:bodyPr>
          <a:lstStyle/>
          <a:p>
            <a:pPr algn="ctr">
              <a:lnSpc>
                <a:spcPts val="13802"/>
              </a:lnSpc>
            </a:pPr>
            <a:r>
              <a:rPr lang="en-US" sz="14529" b="true">
                <a:solidFill>
                  <a:srgbClr val="202A61"/>
                </a:solidFill>
                <a:latin typeface="Frasa Display Bold"/>
                <a:ea typeface="Frasa Display Bold"/>
                <a:cs typeface="Frasa Display Bold"/>
                <a:sym typeface="Frasa Display Bold"/>
              </a:rPr>
              <a:t>Thank You</a:t>
            </a:r>
          </a:p>
        </p:txBody>
      </p:sp>
      <p:sp>
        <p:nvSpPr>
          <p:cNvPr name="Freeform 7" id="7"/>
          <p:cNvSpPr/>
          <p:nvPr/>
        </p:nvSpPr>
        <p:spPr>
          <a:xfrm flipH="true" flipV="false" rot="-10800000">
            <a:off x="15225095" y="-553438"/>
            <a:ext cx="2111657" cy="2111657"/>
          </a:xfrm>
          <a:custGeom>
            <a:avLst/>
            <a:gdLst/>
            <a:ahLst/>
            <a:cxnLst/>
            <a:rect r="r" b="b" t="t" l="l"/>
            <a:pathLst>
              <a:path h="2111657" w="2111657">
                <a:moveTo>
                  <a:pt x="2111657" y="0"/>
                </a:moveTo>
                <a:lnTo>
                  <a:pt x="0" y="0"/>
                </a:lnTo>
                <a:lnTo>
                  <a:pt x="0" y="2111657"/>
                </a:lnTo>
                <a:lnTo>
                  <a:pt x="2111657" y="2111657"/>
                </a:lnTo>
                <a:lnTo>
                  <a:pt x="211165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8" id="8"/>
          <p:cNvSpPr/>
          <p:nvPr/>
        </p:nvSpPr>
        <p:spPr>
          <a:xfrm flipV="true">
            <a:off x="5653658" y="9253537"/>
            <a:ext cx="7488116" cy="0"/>
          </a:xfrm>
          <a:prstGeom prst="line">
            <a:avLst/>
          </a:prstGeom>
          <a:ln cap="flat" w="9525">
            <a:solidFill>
              <a:srgbClr val="202A61"/>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DAHUsLjSZIU</dc:identifier>
  <dcterms:modified xsi:type="dcterms:W3CDTF">2011-08-01T06:04:30Z</dcterms:modified>
  <cp:revision>1</cp:revision>
  <dc:title>HealthScope</dc:title>
</cp:coreProperties>
</file>